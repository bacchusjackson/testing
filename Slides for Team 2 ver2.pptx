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7777"/>
    <a:srgbClr val="E2AC00"/>
    <a:srgbClr val="0070C0"/>
    <a:srgbClr val="FFE699"/>
    <a:srgbClr val="FF00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0" autoAdjust="0"/>
    <p:restoredTop sz="71395" autoAdjust="0"/>
  </p:normalViewPr>
  <p:slideViewPr>
    <p:cSldViewPr snapToGrid="0">
      <p:cViewPr varScale="1">
        <p:scale>
          <a:sx n="81" d="100"/>
          <a:sy n="81" d="100"/>
        </p:scale>
        <p:origin x="146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6EA33-FFC5-46A9-99E4-673BD5928EB0}" type="datetimeFigureOut">
              <a:rPr lang="en-US" smtClean="0"/>
              <a:t>3/28/2019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BFDAEE-4838-48DF-B812-25173F65511F}" type="slidenum">
              <a:rPr lang="en-US" smtClean="0"/>
              <a:t>‹#›</a:t>
            </a:fld>
            <a:endParaRPr lang="en-US"/>
          </a:p>
        </p:txBody>
      </p:sp>
    </p:spTree>
    <p:extLst>
      <p:ext uri="{BB962C8B-B14F-4D97-AF65-F5344CB8AC3E}">
        <p14:creationId xmlns:p14="http://schemas.microsoft.com/office/powerpoint/2010/main" val="3761163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the problem</a:t>
            </a:r>
            <a:r>
              <a:rPr lang="en-US" baseline="0" dirty="0" smtClean="0"/>
              <a:t> statement Team 2 was given by the commander. On the first day we looked at the problem statement and broke it down word by word.</a:t>
            </a:r>
          </a:p>
          <a:p>
            <a:r>
              <a:rPr lang="en-US" baseline="0" dirty="0" smtClean="0"/>
              <a:t>The graphic at the bottom indicates the groups mindset through out the process. </a:t>
            </a:r>
          </a:p>
          <a:p>
            <a:r>
              <a:rPr lang="en-US" baseline="0" dirty="0" smtClean="0"/>
              <a:t>Divergent thought involves exploring all factors and solutions no matter how out of the box they may seem.</a:t>
            </a:r>
          </a:p>
          <a:p>
            <a:r>
              <a:rPr lang="en-US" baseline="0" dirty="0" smtClean="0"/>
              <a:t>Convergent thought requires the team to concentrate their focus on one problem or potential solution.</a:t>
            </a:r>
          </a:p>
          <a:p>
            <a:endParaRPr lang="en-US" dirty="0"/>
          </a:p>
        </p:txBody>
      </p:sp>
      <p:sp>
        <p:nvSpPr>
          <p:cNvPr id="4" name="Slide Number Placeholder 3"/>
          <p:cNvSpPr>
            <a:spLocks noGrp="1"/>
          </p:cNvSpPr>
          <p:nvPr>
            <p:ph type="sldNum" sz="quarter" idx="10"/>
          </p:nvPr>
        </p:nvSpPr>
        <p:spPr/>
        <p:txBody>
          <a:bodyPr/>
          <a:lstStyle/>
          <a:p>
            <a:fld id="{F4BFDAEE-4838-48DF-B812-25173F65511F}" type="slidenum">
              <a:rPr lang="en-US" smtClean="0"/>
              <a:t>2</a:t>
            </a:fld>
            <a:endParaRPr lang="en-US"/>
          </a:p>
        </p:txBody>
      </p:sp>
    </p:spTree>
    <p:extLst>
      <p:ext uri="{BB962C8B-B14F-4D97-AF65-F5344CB8AC3E}">
        <p14:creationId xmlns:p14="http://schemas.microsoft.com/office/powerpoint/2010/main" val="895755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Once we identified key elements</a:t>
            </a:r>
            <a:r>
              <a:rPr lang="en-US" baseline="0" dirty="0" smtClean="0"/>
              <a:t> of the problem statement, we did a number of exercises to concentrate or focus and Team effort on one element within the problem.</a:t>
            </a:r>
            <a:endParaRPr lang="en-US" dirty="0"/>
          </a:p>
        </p:txBody>
      </p:sp>
      <p:sp>
        <p:nvSpPr>
          <p:cNvPr id="4" name="Slide Number Placeholder 3"/>
          <p:cNvSpPr>
            <a:spLocks noGrp="1"/>
          </p:cNvSpPr>
          <p:nvPr>
            <p:ph type="sldNum" sz="quarter" idx="10"/>
          </p:nvPr>
        </p:nvSpPr>
        <p:spPr/>
        <p:txBody>
          <a:bodyPr/>
          <a:lstStyle/>
          <a:p>
            <a:fld id="{F4BFDAEE-4838-48DF-B812-25173F65511F}" type="slidenum">
              <a:rPr lang="en-US" smtClean="0"/>
              <a:t>3</a:t>
            </a:fld>
            <a:endParaRPr lang="en-US"/>
          </a:p>
        </p:txBody>
      </p:sp>
    </p:spTree>
    <p:extLst>
      <p:ext uri="{BB962C8B-B14F-4D97-AF65-F5344CB8AC3E}">
        <p14:creationId xmlns:p14="http://schemas.microsoft.com/office/powerpoint/2010/main" val="367031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a:t>
            </a:r>
            <a:r>
              <a:rPr lang="en-US" baseline="0" dirty="0" smtClean="0"/>
              <a:t> decided that forecasting manning is a scheduling issue and explored that problem for a little. Eventually we pivoted to focus on maximizing manning which we determined is a problem that could be tackled with an innovative solution.</a:t>
            </a:r>
            <a:endParaRPr lang="en-US" dirty="0"/>
          </a:p>
        </p:txBody>
      </p:sp>
      <p:sp>
        <p:nvSpPr>
          <p:cNvPr id="4" name="Slide Number Placeholder 3"/>
          <p:cNvSpPr>
            <a:spLocks noGrp="1"/>
          </p:cNvSpPr>
          <p:nvPr>
            <p:ph type="sldNum" sz="quarter" idx="10"/>
          </p:nvPr>
        </p:nvSpPr>
        <p:spPr/>
        <p:txBody>
          <a:bodyPr/>
          <a:lstStyle/>
          <a:p>
            <a:fld id="{F4BFDAEE-4838-48DF-B812-25173F65511F}" type="slidenum">
              <a:rPr lang="en-US" smtClean="0"/>
              <a:t>4</a:t>
            </a:fld>
            <a:endParaRPr lang="en-US"/>
          </a:p>
        </p:txBody>
      </p:sp>
    </p:spTree>
    <p:extLst>
      <p:ext uri="{BB962C8B-B14F-4D97-AF65-F5344CB8AC3E}">
        <p14:creationId xmlns:p14="http://schemas.microsoft.com/office/powerpoint/2010/main" val="12537680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With</a:t>
            </a:r>
            <a:r>
              <a:rPr lang="en-US" baseline="0" dirty="0" smtClean="0"/>
              <a:t>in maximizing manning we found three ways to improve it: Talent Management, Tradecraft as in the tradecraft for our AFSC, and the Tools and Sensors we use. The team explored each of these factors but decided to focus on tradecraft training. Eventually, we found a limited focus on quality training to be a root cause to a lack in tradecraft expertise. Because most crews are more concerned with filling positions to meet manning requirements, a lot of Airmen are pushed through training before they’re ready. With high rotation rates at most sites, there isn’t enough time to focus on AFSC mastery (For example, a 1N1 should be an expert imagery analyst by the time they leave the DGS).</a:t>
            </a:r>
            <a:endParaRPr lang="en-US" dirty="0"/>
          </a:p>
        </p:txBody>
      </p:sp>
      <p:sp>
        <p:nvSpPr>
          <p:cNvPr id="4" name="Slide Number Placeholder 3"/>
          <p:cNvSpPr>
            <a:spLocks noGrp="1"/>
          </p:cNvSpPr>
          <p:nvPr>
            <p:ph type="sldNum" sz="quarter" idx="10"/>
          </p:nvPr>
        </p:nvSpPr>
        <p:spPr/>
        <p:txBody>
          <a:bodyPr/>
          <a:lstStyle/>
          <a:p>
            <a:fld id="{F4BFDAEE-4838-48DF-B812-25173F65511F}" type="slidenum">
              <a:rPr lang="en-US" smtClean="0"/>
              <a:t>5</a:t>
            </a:fld>
            <a:endParaRPr lang="en-US"/>
          </a:p>
        </p:txBody>
      </p:sp>
    </p:spTree>
    <p:extLst>
      <p:ext uri="{BB962C8B-B14F-4D97-AF65-F5344CB8AC3E}">
        <p14:creationId xmlns:p14="http://schemas.microsoft.com/office/powerpoint/2010/main" val="20269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By</a:t>
            </a:r>
            <a:r>
              <a:rPr lang="en-US" baseline="0" dirty="0" smtClean="0"/>
              <a:t> breaking down the large problem statement to smaller factors and finding a root cause, we were able to generate a new, focused problem statement. </a:t>
            </a:r>
            <a:endParaRPr lang="en-US" dirty="0"/>
          </a:p>
        </p:txBody>
      </p:sp>
      <p:sp>
        <p:nvSpPr>
          <p:cNvPr id="4" name="Slide Number Placeholder 3"/>
          <p:cNvSpPr>
            <a:spLocks noGrp="1"/>
          </p:cNvSpPr>
          <p:nvPr>
            <p:ph type="sldNum" sz="quarter" idx="10"/>
          </p:nvPr>
        </p:nvSpPr>
        <p:spPr/>
        <p:txBody>
          <a:bodyPr/>
          <a:lstStyle/>
          <a:p>
            <a:fld id="{F4BFDAEE-4838-48DF-B812-25173F65511F}" type="slidenum">
              <a:rPr lang="en-US" smtClean="0"/>
              <a:t>6</a:t>
            </a:fld>
            <a:endParaRPr lang="en-US"/>
          </a:p>
        </p:txBody>
      </p:sp>
    </p:spTree>
    <p:extLst>
      <p:ext uri="{BB962C8B-B14F-4D97-AF65-F5344CB8AC3E}">
        <p14:creationId xmlns:p14="http://schemas.microsoft.com/office/powerpoint/2010/main" val="373664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Switching</a:t>
            </a:r>
            <a:r>
              <a:rPr lang="en-US" baseline="0" dirty="0" smtClean="0"/>
              <a:t> our mind set to divergent thinking, we created as many solutions as possible. The team purposefully did not focus on feasibility or impact at this step. With over 60 solution ideas generated, the next step was to group and weigh them against each other. The team eventually hypothesized that revitalization of initial qualification training (IQT), mission qualification training (MQT), and continuous training (CT) was the solution to have the biggest impact and was the most feasible. </a:t>
            </a:r>
            <a:endParaRPr lang="en-US" dirty="0"/>
          </a:p>
        </p:txBody>
      </p:sp>
      <p:sp>
        <p:nvSpPr>
          <p:cNvPr id="4" name="Slide Number Placeholder 3"/>
          <p:cNvSpPr>
            <a:spLocks noGrp="1"/>
          </p:cNvSpPr>
          <p:nvPr>
            <p:ph type="sldNum" sz="quarter" idx="10"/>
          </p:nvPr>
        </p:nvSpPr>
        <p:spPr/>
        <p:txBody>
          <a:bodyPr/>
          <a:lstStyle/>
          <a:p>
            <a:fld id="{F4BFDAEE-4838-48DF-B812-25173F65511F}" type="slidenum">
              <a:rPr lang="en-US" smtClean="0"/>
              <a:t>7</a:t>
            </a:fld>
            <a:endParaRPr lang="en-US"/>
          </a:p>
        </p:txBody>
      </p:sp>
    </p:spTree>
    <p:extLst>
      <p:ext uri="{BB962C8B-B14F-4D97-AF65-F5344CB8AC3E}">
        <p14:creationId xmlns:p14="http://schemas.microsoft.com/office/powerpoint/2010/main" val="3653862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After</a:t>
            </a:r>
            <a:r>
              <a:rPr lang="en-US" baseline="0" dirty="0" smtClean="0"/>
              <a:t> we landed on a potential solution, we mapped our assumptions surrounding it. By mapping these assumptions, we were able to identify the most critical of the lot. These would have to be tested before moving forward with this solution. This is what we used to build our hypothesis. </a:t>
            </a:r>
            <a:endParaRPr lang="en-US" dirty="0"/>
          </a:p>
        </p:txBody>
      </p:sp>
      <p:sp>
        <p:nvSpPr>
          <p:cNvPr id="4" name="Slide Number Placeholder 3"/>
          <p:cNvSpPr>
            <a:spLocks noGrp="1"/>
          </p:cNvSpPr>
          <p:nvPr>
            <p:ph type="sldNum" sz="quarter" idx="10"/>
          </p:nvPr>
        </p:nvSpPr>
        <p:spPr/>
        <p:txBody>
          <a:bodyPr/>
          <a:lstStyle/>
          <a:p>
            <a:fld id="{F4BFDAEE-4838-48DF-B812-25173F65511F}" type="slidenum">
              <a:rPr lang="en-US" smtClean="0"/>
              <a:t>8</a:t>
            </a:fld>
            <a:endParaRPr lang="en-US"/>
          </a:p>
        </p:txBody>
      </p:sp>
    </p:spTree>
    <p:extLst>
      <p:ext uri="{BB962C8B-B14F-4D97-AF65-F5344CB8AC3E}">
        <p14:creationId xmlns:p14="http://schemas.microsoft.com/office/powerpoint/2010/main" val="36146214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Use our critical assumptions and building on our focused</a:t>
            </a:r>
            <a:r>
              <a:rPr lang="en-US" baseline="0" dirty="0" smtClean="0"/>
              <a:t> problem statement, we generated a hypothesis. While ICON has been completed at this point, the work doesn’t stop here. We created a plan of action to get after this hypothesis with a series of steps and progress checks. </a:t>
            </a:r>
            <a:endParaRPr lang="en-US" dirty="0"/>
          </a:p>
        </p:txBody>
      </p:sp>
      <p:sp>
        <p:nvSpPr>
          <p:cNvPr id="4" name="Slide Number Placeholder 3"/>
          <p:cNvSpPr>
            <a:spLocks noGrp="1"/>
          </p:cNvSpPr>
          <p:nvPr>
            <p:ph type="sldNum" sz="quarter" idx="10"/>
          </p:nvPr>
        </p:nvSpPr>
        <p:spPr/>
        <p:txBody>
          <a:bodyPr/>
          <a:lstStyle/>
          <a:p>
            <a:fld id="{F4BFDAEE-4838-48DF-B812-25173F65511F}" type="slidenum">
              <a:rPr lang="en-US" smtClean="0"/>
              <a:t>9</a:t>
            </a:fld>
            <a:endParaRPr lang="en-US"/>
          </a:p>
        </p:txBody>
      </p:sp>
    </p:spTree>
    <p:extLst>
      <p:ext uri="{BB962C8B-B14F-4D97-AF65-F5344CB8AC3E}">
        <p14:creationId xmlns:p14="http://schemas.microsoft.com/office/powerpoint/2010/main" val="30276744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gi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9319A9C-EFEE-4EA2-8B77-76FA7BDEB61E}"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467C8E-E591-4968-9FD7-AE39ED6220AC}" type="slidenum">
              <a:rPr lang="en-US" smtClean="0"/>
              <a:t>‹#›</a:t>
            </a:fld>
            <a:endParaRPr lang="en-US"/>
          </a:p>
        </p:txBody>
      </p:sp>
      <p:sp>
        <p:nvSpPr>
          <p:cNvPr id="7" name="Rectangle 6"/>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8" name="Picture 7"/>
          <p:cNvPicPr>
            <a:picLocks noChangeAspect="1"/>
          </p:cNvPicPr>
          <p:nvPr userDrawn="1"/>
        </p:nvPicPr>
        <p:blipFill>
          <a:blip r:embed="rId2"/>
          <a:stretch>
            <a:fillRect/>
          </a:stretch>
        </p:blipFill>
        <p:spPr>
          <a:xfrm>
            <a:off x="-20320" y="3"/>
            <a:ext cx="12212320" cy="449839"/>
          </a:xfrm>
          <a:prstGeom prst="rect">
            <a:avLst/>
          </a:prstGeom>
        </p:spPr>
      </p:pic>
      <p:pic>
        <p:nvPicPr>
          <p:cNvPr id="9" name="Picture 8"/>
          <p:cNvPicPr>
            <a:picLocks noChangeAspect="1"/>
          </p:cNvPicPr>
          <p:nvPr userDrawn="1"/>
        </p:nvPicPr>
        <p:blipFill>
          <a:blip r:embed="rId3"/>
          <a:stretch>
            <a:fillRect/>
          </a:stretch>
        </p:blipFill>
        <p:spPr>
          <a:xfrm>
            <a:off x="-18068" y="6438162"/>
            <a:ext cx="12238525" cy="442698"/>
          </a:xfrm>
          <a:prstGeom prst="rect">
            <a:avLst/>
          </a:prstGeom>
        </p:spPr>
      </p:pic>
      <p:sp>
        <p:nvSpPr>
          <p:cNvPr id="10" name="Rectangle 9"/>
          <p:cNvSpPr/>
          <p:nvPr userDrawn="1"/>
        </p:nvSpPr>
        <p:spPr>
          <a:xfrm>
            <a:off x="3130760" y="5808826"/>
            <a:ext cx="3544560" cy="369332"/>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1" u="none" strike="noStrike" kern="1200" cap="none" spc="0" normalizeH="0" baseline="0" noProof="0" dirty="0" smtClean="0">
                <a:ln>
                  <a:noFill/>
                </a:ln>
                <a:solidFill>
                  <a:schemeClr val="tx1"/>
                </a:solidFill>
                <a:effectLst/>
                <a:uLnTx/>
                <a:uFillTx/>
                <a:latin typeface="Arial" charset="0"/>
                <a:ea typeface="+mn-ea"/>
                <a:cs typeface="Arial" charset="0"/>
              </a:rPr>
              <a:t>Overall Briefing Classification:</a:t>
            </a:r>
          </a:p>
        </p:txBody>
      </p:sp>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78295" y="1723013"/>
            <a:ext cx="2252465" cy="1803547"/>
          </a:xfrm>
          <a:prstGeom prst="rect">
            <a:avLst/>
          </a:prstGeom>
        </p:spPr>
      </p:pic>
      <p:pic>
        <p:nvPicPr>
          <p:cNvPr id="12" name="Picture 1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28800" y="2737146"/>
            <a:ext cx="2252465" cy="1856452"/>
          </a:xfrm>
          <a:prstGeom prst="rect">
            <a:avLst/>
          </a:prstGeom>
        </p:spPr>
      </p:pic>
    </p:spTree>
    <p:extLst>
      <p:ext uri="{BB962C8B-B14F-4D97-AF65-F5344CB8AC3E}">
        <p14:creationId xmlns:p14="http://schemas.microsoft.com/office/powerpoint/2010/main" val="2589469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59017" y="138623"/>
            <a:ext cx="9580228" cy="893224"/>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838200" y="1188062"/>
            <a:ext cx="10515600" cy="456678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7" name="Straight Connector 6"/>
          <p:cNvCxnSpPr/>
          <p:nvPr userDrawn="1"/>
        </p:nvCxnSpPr>
        <p:spPr>
          <a:xfrm>
            <a:off x="473978" y="6132136"/>
            <a:ext cx="2608976" cy="0"/>
          </a:xfrm>
          <a:prstGeom prst="line">
            <a:avLst/>
          </a:prstGeom>
          <a:ln w="28575">
            <a:solidFill>
              <a:srgbClr val="FF0000">
                <a:alpha val="61176"/>
              </a:srgb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flipV="1">
            <a:off x="473978" y="5953870"/>
            <a:ext cx="2608976" cy="178266"/>
          </a:xfrm>
          <a:prstGeom prst="line">
            <a:avLst/>
          </a:prstGeom>
          <a:ln w="28575">
            <a:solidFill>
              <a:srgbClr val="FF0000">
                <a:alpha val="61176"/>
              </a:srgb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flipV="1">
            <a:off x="473978" y="5775604"/>
            <a:ext cx="2608976" cy="356532"/>
          </a:xfrm>
          <a:prstGeom prst="line">
            <a:avLst/>
          </a:prstGeom>
          <a:ln w="28575">
            <a:solidFill>
              <a:srgbClr val="FF0000">
                <a:alpha val="61176"/>
              </a:srgb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a:off x="473978" y="6132136"/>
            <a:ext cx="2608976" cy="356532"/>
          </a:xfrm>
          <a:prstGeom prst="line">
            <a:avLst/>
          </a:prstGeom>
          <a:ln w="28575">
            <a:solidFill>
              <a:srgbClr val="FF0000">
                <a:alpha val="61176"/>
              </a:srgb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473978" y="6132136"/>
            <a:ext cx="2608976" cy="178266"/>
          </a:xfrm>
          <a:prstGeom prst="line">
            <a:avLst/>
          </a:prstGeom>
          <a:ln w="28575">
            <a:solidFill>
              <a:srgbClr val="FF0000">
                <a:alpha val="61176"/>
              </a:srgb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flipH="1">
            <a:off x="3193409" y="6132136"/>
            <a:ext cx="2608976" cy="0"/>
          </a:xfrm>
          <a:prstGeom prst="line">
            <a:avLst/>
          </a:prstGeom>
          <a:ln w="28575">
            <a:solidFill>
              <a:srgbClr val="FF0000">
                <a:alpha val="61176"/>
              </a:srgb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flipH="1" flipV="1">
            <a:off x="3193409" y="5953870"/>
            <a:ext cx="2608976" cy="178266"/>
          </a:xfrm>
          <a:prstGeom prst="line">
            <a:avLst/>
          </a:prstGeom>
          <a:ln w="28575">
            <a:solidFill>
              <a:srgbClr val="FF0000">
                <a:alpha val="61176"/>
              </a:srgb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flipH="1" flipV="1">
            <a:off x="3193409" y="5775604"/>
            <a:ext cx="2608976" cy="356532"/>
          </a:xfrm>
          <a:prstGeom prst="line">
            <a:avLst/>
          </a:prstGeom>
          <a:ln w="28575">
            <a:solidFill>
              <a:srgbClr val="FF0000">
                <a:alpha val="61176"/>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H="1">
            <a:off x="3193409" y="6132136"/>
            <a:ext cx="2608976" cy="356532"/>
          </a:xfrm>
          <a:prstGeom prst="line">
            <a:avLst/>
          </a:prstGeom>
          <a:ln w="28575">
            <a:solidFill>
              <a:srgbClr val="FF0000">
                <a:alpha val="61176"/>
              </a:srgb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H="1">
            <a:off x="3193409" y="6132136"/>
            <a:ext cx="2608976" cy="178266"/>
          </a:xfrm>
          <a:prstGeom prst="line">
            <a:avLst/>
          </a:prstGeom>
          <a:ln w="28575">
            <a:solidFill>
              <a:srgbClr val="FF0000">
                <a:alpha val="61176"/>
              </a:srgb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6372837" y="6132136"/>
            <a:ext cx="2608976" cy="0"/>
          </a:xfrm>
          <a:prstGeom prst="line">
            <a:avLst/>
          </a:prstGeom>
          <a:ln w="28575">
            <a:solidFill>
              <a:srgbClr val="0070C0">
                <a:alpha val="63137"/>
              </a:srgb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flipV="1">
            <a:off x="6372837" y="5953870"/>
            <a:ext cx="2608976" cy="178266"/>
          </a:xfrm>
          <a:prstGeom prst="line">
            <a:avLst/>
          </a:prstGeom>
          <a:ln w="28575">
            <a:solidFill>
              <a:srgbClr val="0070C0">
                <a:alpha val="63137"/>
              </a:srgb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flipV="1">
            <a:off x="6372837" y="5775604"/>
            <a:ext cx="2608976" cy="356532"/>
          </a:xfrm>
          <a:prstGeom prst="line">
            <a:avLst/>
          </a:prstGeom>
          <a:ln w="28575">
            <a:solidFill>
              <a:srgbClr val="0070C0">
                <a:alpha val="63137"/>
              </a:srgb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6372837" y="6132136"/>
            <a:ext cx="2608976" cy="356532"/>
          </a:xfrm>
          <a:prstGeom prst="line">
            <a:avLst/>
          </a:prstGeom>
          <a:ln w="28575">
            <a:solidFill>
              <a:srgbClr val="0070C0">
                <a:alpha val="63137"/>
              </a:srgb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a:off x="6372837" y="6132136"/>
            <a:ext cx="2608976" cy="178266"/>
          </a:xfrm>
          <a:prstGeom prst="line">
            <a:avLst/>
          </a:prstGeom>
          <a:ln w="28575">
            <a:solidFill>
              <a:srgbClr val="0070C0">
                <a:alpha val="63137"/>
              </a:srgb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userDrawn="1"/>
        </p:nvCxnSpPr>
        <p:spPr>
          <a:xfrm flipH="1">
            <a:off x="9092268" y="6132136"/>
            <a:ext cx="2608976" cy="0"/>
          </a:xfrm>
          <a:prstGeom prst="line">
            <a:avLst/>
          </a:prstGeom>
          <a:ln w="28575">
            <a:solidFill>
              <a:srgbClr val="0070C0">
                <a:alpha val="63137"/>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flipH="1" flipV="1">
            <a:off x="9092268" y="5953870"/>
            <a:ext cx="2608976" cy="178266"/>
          </a:xfrm>
          <a:prstGeom prst="line">
            <a:avLst/>
          </a:prstGeom>
          <a:ln w="28575">
            <a:solidFill>
              <a:srgbClr val="0070C0">
                <a:alpha val="63137"/>
              </a:srgb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flipH="1" flipV="1">
            <a:off x="9092268" y="5775604"/>
            <a:ext cx="2608976" cy="356532"/>
          </a:xfrm>
          <a:prstGeom prst="line">
            <a:avLst/>
          </a:prstGeom>
          <a:ln w="28575">
            <a:solidFill>
              <a:srgbClr val="0070C0">
                <a:alpha val="63137"/>
              </a:srgb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flipH="1">
            <a:off x="9092268" y="6132136"/>
            <a:ext cx="2608976" cy="356532"/>
          </a:xfrm>
          <a:prstGeom prst="line">
            <a:avLst/>
          </a:prstGeom>
          <a:ln w="28575">
            <a:solidFill>
              <a:srgbClr val="0070C0">
                <a:alpha val="63137"/>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flipH="1">
            <a:off x="9092268" y="6132136"/>
            <a:ext cx="2608976" cy="178266"/>
          </a:xfrm>
          <a:prstGeom prst="line">
            <a:avLst/>
          </a:prstGeom>
          <a:ln w="28575">
            <a:solidFill>
              <a:srgbClr val="0070C0">
                <a:alpha val="63137"/>
              </a:srgbClr>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userDrawn="1"/>
        </p:nvSpPr>
        <p:spPr>
          <a:xfrm>
            <a:off x="2650164" y="5474649"/>
            <a:ext cx="976036" cy="369332"/>
          </a:xfrm>
          <a:prstGeom prst="rect">
            <a:avLst/>
          </a:prstGeom>
          <a:noFill/>
        </p:spPr>
        <p:txBody>
          <a:bodyPr wrap="none" rtlCol="0">
            <a:spAutoFit/>
          </a:bodyPr>
          <a:lstStyle/>
          <a:p>
            <a:r>
              <a:rPr lang="en-US" dirty="0" smtClean="0">
                <a:solidFill>
                  <a:srgbClr val="777777"/>
                </a:solidFill>
              </a:rPr>
              <a:t>Problem</a:t>
            </a:r>
            <a:endParaRPr lang="en-US" dirty="0">
              <a:solidFill>
                <a:srgbClr val="777777"/>
              </a:solidFill>
            </a:endParaRPr>
          </a:p>
        </p:txBody>
      </p:sp>
      <p:sp>
        <p:nvSpPr>
          <p:cNvPr id="28" name="TextBox 27"/>
          <p:cNvSpPr txBox="1"/>
          <p:nvPr userDrawn="1"/>
        </p:nvSpPr>
        <p:spPr>
          <a:xfrm>
            <a:off x="8556781" y="5478626"/>
            <a:ext cx="960519" cy="369332"/>
          </a:xfrm>
          <a:prstGeom prst="rect">
            <a:avLst/>
          </a:prstGeom>
          <a:noFill/>
        </p:spPr>
        <p:txBody>
          <a:bodyPr wrap="none" rtlCol="0">
            <a:spAutoFit/>
          </a:bodyPr>
          <a:lstStyle/>
          <a:p>
            <a:r>
              <a:rPr lang="en-US" dirty="0" smtClean="0">
                <a:solidFill>
                  <a:srgbClr val="777777"/>
                </a:solidFill>
              </a:rPr>
              <a:t>Solution</a:t>
            </a:r>
            <a:endParaRPr lang="en-US" dirty="0">
              <a:solidFill>
                <a:srgbClr val="777777"/>
              </a:solidFill>
            </a:endParaRPr>
          </a:p>
        </p:txBody>
      </p:sp>
      <p:sp>
        <p:nvSpPr>
          <p:cNvPr id="29" name="TextBox 28"/>
          <p:cNvSpPr txBox="1"/>
          <p:nvPr userDrawn="1"/>
        </p:nvSpPr>
        <p:spPr>
          <a:xfrm>
            <a:off x="1162400" y="6393135"/>
            <a:ext cx="1232132" cy="369332"/>
          </a:xfrm>
          <a:prstGeom prst="rect">
            <a:avLst/>
          </a:prstGeom>
          <a:noFill/>
        </p:spPr>
        <p:txBody>
          <a:bodyPr wrap="none" rtlCol="0">
            <a:spAutoFit/>
          </a:bodyPr>
          <a:lstStyle/>
          <a:p>
            <a:r>
              <a:rPr lang="en-US" dirty="0" smtClean="0">
                <a:solidFill>
                  <a:srgbClr val="777777"/>
                </a:solidFill>
              </a:rPr>
              <a:t>Divergence</a:t>
            </a:r>
            <a:endParaRPr lang="en-US" dirty="0">
              <a:solidFill>
                <a:srgbClr val="777777"/>
              </a:solidFill>
            </a:endParaRPr>
          </a:p>
        </p:txBody>
      </p:sp>
      <p:sp>
        <p:nvSpPr>
          <p:cNvPr id="30" name="TextBox 29"/>
          <p:cNvSpPr txBox="1"/>
          <p:nvPr userDrawn="1"/>
        </p:nvSpPr>
        <p:spPr>
          <a:xfrm>
            <a:off x="7061259" y="6488668"/>
            <a:ext cx="1232132" cy="369332"/>
          </a:xfrm>
          <a:prstGeom prst="rect">
            <a:avLst/>
          </a:prstGeom>
          <a:noFill/>
        </p:spPr>
        <p:txBody>
          <a:bodyPr wrap="none" rtlCol="0">
            <a:spAutoFit/>
          </a:bodyPr>
          <a:lstStyle/>
          <a:p>
            <a:r>
              <a:rPr lang="en-US" dirty="0" smtClean="0">
                <a:solidFill>
                  <a:srgbClr val="777777"/>
                </a:solidFill>
              </a:rPr>
              <a:t>Divergence</a:t>
            </a:r>
            <a:endParaRPr lang="en-US" dirty="0">
              <a:solidFill>
                <a:srgbClr val="777777"/>
              </a:solidFill>
            </a:endParaRPr>
          </a:p>
        </p:txBody>
      </p:sp>
      <p:sp>
        <p:nvSpPr>
          <p:cNvPr id="31" name="TextBox 30"/>
          <p:cNvSpPr txBox="1"/>
          <p:nvPr userDrawn="1"/>
        </p:nvSpPr>
        <p:spPr>
          <a:xfrm>
            <a:off x="3771544" y="6393135"/>
            <a:ext cx="1452705" cy="369332"/>
          </a:xfrm>
          <a:prstGeom prst="rect">
            <a:avLst/>
          </a:prstGeom>
          <a:noFill/>
        </p:spPr>
        <p:txBody>
          <a:bodyPr wrap="none" rtlCol="0">
            <a:spAutoFit/>
          </a:bodyPr>
          <a:lstStyle/>
          <a:p>
            <a:r>
              <a:rPr lang="en-US" dirty="0" smtClean="0">
                <a:solidFill>
                  <a:srgbClr val="777777"/>
                </a:solidFill>
              </a:rPr>
              <a:t>Convergence</a:t>
            </a:r>
            <a:endParaRPr lang="en-US" dirty="0">
              <a:solidFill>
                <a:srgbClr val="777777"/>
              </a:solidFill>
            </a:endParaRPr>
          </a:p>
        </p:txBody>
      </p:sp>
      <p:sp>
        <p:nvSpPr>
          <p:cNvPr id="32" name="TextBox 31"/>
          <p:cNvSpPr txBox="1"/>
          <p:nvPr userDrawn="1"/>
        </p:nvSpPr>
        <p:spPr>
          <a:xfrm>
            <a:off x="9670235" y="6488668"/>
            <a:ext cx="1452705" cy="369332"/>
          </a:xfrm>
          <a:prstGeom prst="rect">
            <a:avLst/>
          </a:prstGeom>
          <a:noFill/>
        </p:spPr>
        <p:txBody>
          <a:bodyPr wrap="none" rtlCol="0">
            <a:spAutoFit/>
          </a:bodyPr>
          <a:lstStyle/>
          <a:p>
            <a:r>
              <a:rPr lang="en-US" dirty="0" smtClean="0">
                <a:solidFill>
                  <a:srgbClr val="777777"/>
                </a:solidFill>
              </a:rPr>
              <a:t>Convergence</a:t>
            </a:r>
            <a:endParaRPr lang="en-US" dirty="0">
              <a:solidFill>
                <a:srgbClr val="777777"/>
              </a:solidFill>
            </a:endParaRPr>
          </a:p>
        </p:txBody>
      </p:sp>
    </p:spTree>
    <p:extLst>
      <p:ext uri="{BB962C8B-B14F-4D97-AF65-F5344CB8AC3E}">
        <p14:creationId xmlns:p14="http://schemas.microsoft.com/office/powerpoint/2010/main" val="2350388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9319A9C-EFEE-4EA2-8B77-76FA7BDEB61E}"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467C8E-E591-4968-9FD7-AE39ED6220AC}" type="slidenum">
              <a:rPr lang="en-US" smtClean="0"/>
              <a:t>‹#›</a:t>
            </a:fld>
            <a:endParaRPr lang="en-US"/>
          </a:p>
        </p:txBody>
      </p:sp>
    </p:spTree>
    <p:extLst>
      <p:ext uri="{BB962C8B-B14F-4D97-AF65-F5344CB8AC3E}">
        <p14:creationId xmlns:p14="http://schemas.microsoft.com/office/powerpoint/2010/main" val="4227978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9319A9C-EFEE-4EA2-8B77-76FA7BDEB61E}" type="datetimeFigureOut">
              <a:rPr lang="en-US" smtClean="0"/>
              <a:t>3/28/2019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467C8E-E591-4968-9FD7-AE39ED6220AC}" type="slidenum">
              <a:rPr lang="en-US" smtClean="0"/>
              <a:t>‹#›</a:t>
            </a:fld>
            <a:endParaRPr lang="en-US"/>
          </a:p>
        </p:txBody>
      </p:sp>
    </p:spTree>
    <p:extLst>
      <p:ext uri="{BB962C8B-B14F-4D97-AF65-F5344CB8AC3E}">
        <p14:creationId xmlns:p14="http://schemas.microsoft.com/office/powerpoint/2010/main" val="1812802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9319A9C-EFEE-4EA2-8B77-76FA7BDEB61E}" type="datetimeFigureOut">
              <a:rPr lang="en-US" smtClean="0"/>
              <a:t>3/28/2019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467C8E-E591-4968-9FD7-AE39ED6220AC}" type="slidenum">
              <a:rPr lang="en-US" smtClean="0"/>
              <a:t>‹#›</a:t>
            </a:fld>
            <a:endParaRPr lang="en-US"/>
          </a:p>
        </p:txBody>
      </p:sp>
    </p:spTree>
    <p:extLst>
      <p:ext uri="{BB962C8B-B14F-4D97-AF65-F5344CB8AC3E}">
        <p14:creationId xmlns:p14="http://schemas.microsoft.com/office/powerpoint/2010/main" val="3898747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9319A9C-EFEE-4EA2-8B77-76FA7BDEB61E}" type="datetimeFigureOut">
              <a:rPr lang="en-US" smtClean="0"/>
              <a:t>3/28/2019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467C8E-E591-4968-9FD7-AE39ED6220AC}" type="slidenum">
              <a:rPr lang="en-US" smtClean="0"/>
              <a:t>‹#›</a:t>
            </a:fld>
            <a:endParaRPr lang="en-US"/>
          </a:p>
        </p:txBody>
      </p:sp>
    </p:spTree>
    <p:extLst>
      <p:ext uri="{BB962C8B-B14F-4D97-AF65-F5344CB8AC3E}">
        <p14:creationId xmlns:p14="http://schemas.microsoft.com/office/powerpoint/2010/main" val="3018906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6592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9319A9C-EFEE-4EA2-8B77-76FA7BDEB61E}" type="datetimeFigureOut">
              <a:rPr lang="en-US" smtClean="0"/>
              <a:t>3/28/2019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467C8E-E591-4968-9FD7-AE39ED6220AC}" type="slidenum">
              <a:rPr lang="en-US" smtClean="0"/>
              <a:t>‹#›</a:t>
            </a:fld>
            <a:endParaRPr lang="en-US"/>
          </a:p>
        </p:txBody>
      </p:sp>
    </p:spTree>
    <p:extLst>
      <p:ext uri="{BB962C8B-B14F-4D97-AF65-F5344CB8AC3E}">
        <p14:creationId xmlns:p14="http://schemas.microsoft.com/office/powerpoint/2010/main" val="1313668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9319A9C-EFEE-4EA2-8B77-76FA7BDEB61E}" type="datetimeFigureOut">
              <a:rPr lang="en-US" smtClean="0"/>
              <a:t>3/28/2019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467C8E-E591-4968-9FD7-AE39ED6220AC}" type="slidenum">
              <a:rPr lang="en-US" smtClean="0"/>
              <a:t>‹#›</a:t>
            </a:fld>
            <a:endParaRPr lang="en-US"/>
          </a:p>
        </p:txBody>
      </p:sp>
    </p:spTree>
    <p:extLst>
      <p:ext uri="{BB962C8B-B14F-4D97-AF65-F5344CB8AC3E}">
        <p14:creationId xmlns:p14="http://schemas.microsoft.com/office/powerpoint/2010/main" val="3020491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9319A9C-EFEE-4EA2-8B77-76FA7BDEB61E}"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467C8E-E591-4968-9FD7-AE39ED6220AC}" type="slidenum">
              <a:rPr lang="en-US" smtClean="0"/>
              <a:t>‹#›</a:t>
            </a:fld>
            <a:endParaRPr lang="en-US"/>
          </a:p>
        </p:txBody>
      </p:sp>
    </p:spTree>
    <p:extLst>
      <p:ext uri="{BB962C8B-B14F-4D97-AF65-F5344CB8AC3E}">
        <p14:creationId xmlns:p14="http://schemas.microsoft.com/office/powerpoint/2010/main" val="164130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9319A9C-EFEE-4EA2-8B77-76FA7BDEB61E}"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467C8E-E591-4968-9FD7-AE39ED6220AC}" type="slidenum">
              <a:rPr lang="en-US" smtClean="0"/>
              <a:t>‹#›</a:t>
            </a:fld>
            <a:endParaRPr lang="en-US"/>
          </a:p>
        </p:txBody>
      </p:sp>
    </p:spTree>
    <p:extLst>
      <p:ext uri="{BB962C8B-B14F-4D97-AF65-F5344CB8AC3E}">
        <p14:creationId xmlns:p14="http://schemas.microsoft.com/office/powerpoint/2010/main" val="1595408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319A9C-EFEE-4EA2-8B77-76FA7BDEB61E}" type="datetimeFigureOut">
              <a:rPr lang="en-US" smtClean="0"/>
              <a:t>3/28/2019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467C8E-E591-4968-9FD7-AE39ED6220AC}" type="slidenum">
              <a:rPr lang="en-US" smtClean="0"/>
              <a:t>‹#›</a:t>
            </a:fld>
            <a:endParaRPr lang="en-US"/>
          </a:p>
        </p:txBody>
      </p:sp>
      <p:pic>
        <p:nvPicPr>
          <p:cNvPr id="7" name="Picture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375124" y="122515"/>
            <a:ext cx="925170" cy="783357"/>
          </a:xfrm>
          <a:prstGeom prst="rect">
            <a:avLst/>
          </a:prstGeom>
        </p:spPr>
      </p:pic>
      <p:pic>
        <p:nvPicPr>
          <p:cNvPr id="8" name="Picture 7"/>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887785" y="122515"/>
            <a:ext cx="925172" cy="806336"/>
          </a:xfrm>
          <a:prstGeom prst="rect">
            <a:avLst/>
          </a:prstGeom>
        </p:spPr>
      </p:pic>
      <p:sp>
        <p:nvSpPr>
          <p:cNvPr id="9" name="Rectangle 8"/>
          <p:cNvSpPr/>
          <p:nvPr userDrawn="1"/>
        </p:nvSpPr>
        <p:spPr>
          <a:xfrm>
            <a:off x="406400" y="955458"/>
            <a:ext cx="11379200" cy="96740"/>
          </a:xfrm>
          <a:prstGeom prst="rect">
            <a:avLst/>
          </a:prstGeom>
          <a:gradFill flip="none" rotWithShape="1">
            <a:gsLst>
              <a:gs pos="0">
                <a:schemeClr val="accent1">
                  <a:lumMod val="5000"/>
                  <a:lumOff val="95000"/>
                </a:schemeClr>
              </a:gs>
              <a:gs pos="25000">
                <a:schemeClr val="accent1">
                  <a:lumMod val="45000"/>
                  <a:lumOff val="55000"/>
                </a:schemeClr>
              </a:gs>
              <a:gs pos="100000">
                <a:srgbClr val="07015B"/>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48587622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Team 2</a:t>
            </a:r>
            <a:endParaRPr lang="en-US" dirty="0"/>
          </a:p>
        </p:txBody>
      </p:sp>
    </p:spTree>
    <p:extLst>
      <p:ext uri="{BB962C8B-B14F-4D97-AF65-F5344CB8AC3E}">
        <p14:creationId xmlns:p14="http://schemas.microsoft.com/office/powerpoint/2010/main" val="2215116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0" y="-821"/>
            <a:ext cx="9144000" cy="230832"/>
          </a:xfrm>
          <a:prstGeom prst="rect">
            <a:avLst/>
          </a:prstGeom>
          <a:noFill/>
        </p:spPr>
        <p:txBody>
          <a:bodyPr wrap="square" rtlCol="0">
            <a:spAutoFit/>
          </a:bodyPr>
          <a:lstStyle/>
          <a:p>
            <a:pPr algn="ctr" defTabSz="342900">
              <a:defRPr/>
            </a:pPr>
            <a:r>
              <a:rPr lang="en-US" sz="900" b="1" dirty="0">
                <a:solidFill>
                  <a:srgbClr val="00B050"/>
                </a:solidFill>
                <a:latin typeface="Calibri" panose="020F0502020204030204"/>
              </a:rPr>
              <a:t>UNCLASSIFIED//FOUO</a:t>
            </a:r>
          </a:p>
        </p:txBody>
      </p:sp>
      <p:sp>
        <p:nvSpPr>
          <p:cNvPr id="5" name="TextBox 4"/>
          <p:cNvSpPr txBox="1"/>
          <p:nvPr/>
        </p:nvSpPr>
        <p:spPr>
          <a:xfrm>
            <a:off x="1524000" y="6627168"/>
            <a:ext cx="9144000" cy="230832"/>
          </a:xfrm>
          <a:prstGeom prst="rect">
            <a:avLst/>
          </a:prstGeom>
          <a:noFill/>
        </p:spPr>
        <p:txBody>
          <a:bodyPr wrap="square" rtlCol="0">
            <a:spAutoFit/>
          </a:bodyPr>
          <a:lstStyle/>
          <a:p>
            <a:pPr algn="ctr" defTabSz="342900">
              <a:defRPr/>
            </a:pPr>
            <a:r>
              <a:rPr lang="en-US" sz="900" b="1" dirty="0">
                <a:solidFill>
                  <a:srgbClr val="00B050"/>
                </a:solidFill>
                <a:latin typeface="Calibri" panose="020F0502020204030204"/>
              </a:rPr>
              <a:t>UNCLASSIFIED//FOUO</a:t>
            </a:r>
          </a:p>
        </p:txBody>
      </p:sp>
      <p:sp>
        <p:nvSpPr>
          <p:cNvPr id="8" name="Title 7"/>
          <p:cNvSpPr>
            <a:spLocks noGrp="1"/>
          </p:cNvSpPr>
          <p:nvPr>
            <p:ph type="title"/>
          </p:nvPr>
        </p:nvSpPr>
        <p:spPr/>
        <p:txBody>
          <a:bodyPr/>
          <a:lstStyle/>
          <a:p>
            <a:pPr algn="ctr"/>
            <a:r>
              <a:rPr lang="en-US" dirty="0" smtClean="0"/>
              <a:t>ICON Problem Statement #2</a:t>
            </a:r>
            <a:endParaRPr lang="en-US" dirty="0"/>
          </a:p>
        </p:txBody>
      </p:sp>
      <p:sp>
        <p:nvSpPr>
          <p:cNvPr id="9" name="Content Placeholder 8"/>
          <p:cNvSpPr>
            <a:spLocks noGrp="1"/>
          </p:cNvSpPr>
          <p:nvPr>
            <p:ph idx="1"/>
          </p:nvPr>
        </p:nvSpPr>
        <p:spPr/>
        <p:txBody>
          <a:bodyPr anchor="ctr"/>
          <a:lstStyle/>
          <a:p>
            <a:pPr marL="0" indent="0" algn="ctr">
              <a:buNone/>
            </a:pPr>
            <a:r>
              <a:rPr lang="en-US" dirty="0"/>
              <a:t>Decision Makers within the 480</a:t>
            </a:r>
            <a:r>
              <a:rPr lang="en-US" baseline="30000" dirty="0"/>
              <a:t>th</a:t>
            </a:r>
            <a:r>
              <a:rPr lang="en-US" dirty="0"/>
              <a:t> ISRW need a reliable way to maximize manning and confidently forecast future needs in order to maximize federated PED, Sensor Agnostic Operations, and Sun-Synchronous Operations</a:t>
            </a:r>
          </a:p>
          <a:p>
            <a:pPr marL="0" indent="0" algn="ctr">
              <a:buNone/>
            </a:pPr>
            <a:endParaRPr lang="en-US" dirty="0"/>
          </a:p>
        </p:txBody>
      </p:sp>
      <p:sp>
        <p:nvSpPr>
          <p:cNvPr id="10" name="Rectangle 9"/>
          <p:cNvSpPr/>
          <p:nvPr/>
        </p:nvSpPr>
        <p:spPr>
          <a:xfrm>
            <a:off x="474134" y="5754848"/>
            <a:ext cx="118533" cy="764485"/>
          </a:xfrm>
          <a:prstGeom prst="rect">
            <a:avLst/>
          </a:prstGeom>
          <a:solidFill>
            <a:srgbClr val="FFE699">
              <a:alpha val="67059"/>
            </a:srgbClr>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6637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0" y="-821"/>
            <a:ext cx="9144000" cy="230832"/>
          </a:xfrm>
          <a:prstGeom prst="rect">
            <a:avLst/>
          </a:prstGeom>
          <a:noFill/>
        </p:spPr>
        <p:txBody>
          <a:bodyPr wrap="square" rtlCol="0">
            <a:spAutoFit/>
          </a:bodyPr>
          <a:lstStyle/>
          <a:p>
            <a:pPr algn="ctr" defTabSz="342900">
              <a:defRPr/>
            </a:pPr>
            <a:r>
              <a:rPr lang="en-US" sz="900" b="1" dirty="0">
                <a:solidFill>
                  <a:srgbClr val="00B050"/>
                </a:solidFill>
                <a:latin typeface="Calibri" panose="020F0502020204030204"/>
              </a:rPr>
              <a:t>UNCLASSIFIED//FOUO</a:t>
            </a:r>
          </a:p>
        </p:txBody>
      </p:sp>
      <p:sp>
        <p:nvSpPr>
          <p:cNvPr id="5" name="TextBox 4"/>
          <p:cNvSpPr txBox="1"/>
          <p:nvPr/>
        </p:nvSpPr>
        <p:spPr>
          <a:xfrm>
            <a:off x="1524000" y="6627168"/>
            <a:ext cx="9144000" cy="230832"/>
          </a:xfrm>
          <a:prstGeom prst="rect">
            <a:avLst/>
          </a:prstGeom>
          <a:noFill/>
        </p:spPr>
        <p:txBody>
          <a:bodyPr wrap="square" rtlCol="0">
            <a:spAutoFit/>
          </a:bodyPr>
          <a:lstStyle/>
          <a:p>
            <a:pPr algn="ctr" defTabSz="342900">
              <a:defRPr/>
            </a:pPr>
            <a:r>
              <a:rPr lang="en-US" sz="900" b="1" dirty="0">
                <a:solidFill>
                  <a:srgbClr val="00B050"/>
                </a:solidFill>
                <a:latin typeface="Calibri" panose="020F0502020204030204"/>
              </a:rPr>
              <a:t>UNCLASSIFIED//FOUO</a:t>
            </a:r>
          </a:p>
        </p:txBody>
      </p:sp>
      <p:sp>
        <p:nvSpPr>
          <p:cNvPr id="8" name="Title 7"/>
          <p:cNvSpPr>
            <a:spLocks noGrp="1"/>
          </p:cNvSpPr>
          <p:nvPr>
            <p:ph type="title"/>
          </p:nvPr>
        </p:nvSpPr>
        <p:spPr/>
        <p:txBody>
          <a:bodyPr/>
          <a:lstStyle/>
          <a:p>
            <a:pPr algn="ctr"/>
            <a:r>
              <a:rPr lang="en-US" dirty="0" smtClean="0"/>
              <a:t>ICON Problem Statement #2</a:t>
            </a:r>
            <a:endParaRPr lang="en-US" dirty="0"/>
          </a:p>
        </p:txBody>
      </p:sp>
      <p:sp>
        <p:nvSpPr>
          <p:cNvPr id="9" name="Content Placeholder 8"/>
          <p:cNvSpPr>
            <a:spLocks noGrp="1"/>
          </p:cNvSpPr>
          <p:nvPr>
            <p:ph idx="1"/>
          </p:nvPr>
        </p:nvSpPr>
        <p:spPr/>
        <p:txBody>
          <a:bodyPr anchor="ctr"/>
          <a:lstStyle/>
          <a:p>
            <a:pPr marL="0" indent="0" algn="ctr">
              <a:buNone/>
            </a:pPr>
            <a:r>
              <a:rPr lang="en-US" dirty="0">
                <a:solidFill>
                  <a:srgbClr val="00B050"/>
                </a:solidFill>
              </a:rPr>
              <a:t>Decision Makers </a:t>
            </a:r>
            <a:r>
              <a:rPr lang="en-US" dirty="0"/>
              <a:t>within the 480</a:t>
            </a:r>
            <a:r>
              <a:rPr lang="en-US" baseline="30000" dirty="0"/>
              <a:t>th</a:t>
            </a:r>
            <a:r>
              <a:rPr lang="en-US" dirty="0"/>
              <a:t> ISRW need a reliable way to </a:t>
            </a:r>
            <a:r>
              <a:rPr lang="en-US" dirty="0">
                <a:solidFill>
                  <a:schemeClr val="accent2">
                    <a:lumMod val="75000"/>
                  </a:schemeClr>
                </a:solidFill>
              </a:rPr>
              <a:t>maximize manning</a:t>
            </a:r>
            <a:r>
              <a:rPr lang="en-US" dirty="0"/>
              <a:t> and confidently </a:t>
            </a:r>
            <a:r>
              <a:rPr lang="en-US" dirty="0">
                <a:solidFill>
                  <a:schemeClr val="accent2">
                    <a:lumMod val="75000"/>
                  </a:schemeClr>
                </a:solidFill>
              </a:rPr>
              <a:t>forecast future needs </a:t>
            </a:r>
            <a:r>
              <a:rPr lang="en-US" dirty="0"/>
              <a:t>in order to </a:t>
            </a:r>
            <a:r>
              <a:rPr lang="en-US" dirty="0">
                <a:solidFill>
                  <a:schemeClr val="accent1">
                    <a:lumMod val="75000"/>
                  </a:schemeClr>
                </a:solidFill>
              </a:rPr>
              <a:t>maximize federated PED</a:t>
            </a:r>
            <a:r>
              <a:rPr lang="en-US" dirty="0"/>
              <a:t>, </a:t>
            </a:r>
            <a:r>
              <a:rPr lang="en-US" dirty="0">
                <a:solidFill>
                  <a:schemeClr val="accent1">
                    <a:lumMod val="75000"/>
                  </a:schemeClr>
                </a:solidFill>
              </a:rPr>
              <a:t>Sensor Agnostic Operations</a:t>
            </a:r>
            <a:r>
              <a:rPr lang="en-US" dirty="0"/>
              <a:t>, and </a:t>
            </a:r>
            <a:r>
              <a:rPr lang="en-US" dirty="0">
                <a:solidFill>
                  <a:schemeClr val="accent1">
                    <a:lumMod val="75000"/>
                  </a:schemeClr>
                </a:solidFill>
              </a:rPr>
              <a:t>Sun-Synchronous Operations</a:t>
            </a:r>
          </a:p>
          <a:p>
            <a:pPr marL="0" indent="0" algn="ctr">
              <a:buNone/>
            </a:pPr>
            <a:endParaRPr lang="en-US" dirty="0"/>
          </a:p>
        </p:txBody>
      </p:sp>
      <p:sp>
        <p:nvSpPr>
          <p:cNvPr id="10" name="Rectangle 9"/>
          <p:cNvSpPr/>
          <p:nvPr/>
        </p:nvSpPr>
        <p:spPr>
          <a:xfrm>
            <a:off x="1710267" y="5754848"/>
            <a:ext cx="118533" cy="764485"/>
          </a:xfrm>
          <a:prstGeom prst="rect">
            <a:avLst/>
          </a:prstGeom>
          <a:solidFill>
            <a:srgbClr val="FFE699">
              <a:alpha val="67059"/>
            </a:srgbClr>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4566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0" y="-821"/>
            <a:ext cx="9144000" cy="230832"/>
          </a:xfrm>
          <a:prstGeom prst="rect">
            <a:avLst/>
          </a:prstGeom>
          <a:noFill/>
        </p:spPr>
        <p:txBody>
          <a:bodyPr wrap="square" rtlCol="0">
            <a:spAutoFit/>
          </a:bodyPr>
          <a:lstStyle/>
          <a:p>
            <a:pPr algn="ctr" defTabSz="342900">
              <a:defRPr/>
            </a:pPr>
            <a:r>
              <a:rPr lang="en-US" sz="900" b="1" dirty="0">
                <a:solidFill>
                  <a:srgbClr val="00B050"/>
                </a:solidFill>
                <a:latin typeface="Calibri" panose="020F0502020204030204"/>
              </a:rPr>
              <a:t>UNCLASSIFIED//FOUO</a:t>
            </a:r>
          </a:p>
        </p:txBody>
      </p:sp>
      <p:sp>
        <p:nvSpPr>
          <p:cNvPr id="5" name="TextBox 4"/>
          <p:cNvSpPr txBox="1"/>
          <p:nvPr/>
        </p:nvSpPr>
        <p:spPr>
          <a:xfrm>
            <a:off x="1524000" y="6627168"/>
            <a:ext cx="9144000" cy="230832"/>
          </a:xfrm>
          <a:prstGeom prst="rect">
            <a:avLst/>
          </a:prstGeom>
          <a:noFill/>
        </p:spPr>
        <p:txBody>
          <a:bodyPr wrap="square" rtlCol="0">
            <a:spAutoFit/>
          </a:bodyPr>
          <a:lstStyle/>
          <a:p>
            <a:pPr algn="ctr" defTabSz="342900">
              <a:defRPr/>
            </a:pPr>
            <a:r>
              <a:rPr lang="en-US" sz="900" b="1" dirty="0">
                <a:solidFill>
                  <a:srgbClr val="00B050"/>
                </a:solidFill>
                <a:latin typeface="Calibri" panose="020F0502020204030204"/>
              </a:rPr>
              <a:t>UNCLASSIFIED//FOUO</a:t>
            </a:r>
          </a:p>
        </p:txBody>
      </p:sp>
      <p:sp>
        <p:nvSpPr>
          <p:cNvPr id="8" name="Title 7"/>
          <p:cNvSpPr>
            <a:spLocks noGrp="1"/>
          </p:cNvSpPr>
          <p:nvPr>
            <p:ph type="title"/>
          </p:nvPr>
        </p:nvSpPr>
        <p:spPr/>
        <p:txBody>
          <a:bodyPr/>
          <a:lstStyle/>
          <a:p>
            <a:pPr algn="ctr"/>
            <a:r>
              <a:rPr lang="en-US" dirty="0" smtClean="0"/>
              <a:t>Breaking Down the Problem</a:t>
            </a:r>
            <a:endParaRPr lang="en-US" dirty="0"/>
          </a:p>
        </p:txBody>
      </p:sp>
      <p:sp>
        <p:nvSpPr>
          <p:cNvPr id="10" name="Rectangle 9"/>
          <p:cNvSpPr/>
          <p:nvPr/>
        </p:nvSpPr>
        <p:spPr>
          <a:xfrm>
            <a:off x="2849033" y="5746382"/>
            <a:ext cx="118533" cy="764485"/>
          </a:xfrm>
          <a:prstGeom prst="rect">
            <a:avLst/>
          </a:prstGeom>
          <a:solidFill>
            <a:srgbClr val="FFE699">
              <a:alpha val="67059"/>
            </a:srgbClr>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 name="Rectangle 2"/>
          <p:cNvSpPr/>
          <p:nvPr/>
        </p:nvSpPr>
        <p:spPr>
          <a:xfrm>
            <a:off x="668867" y="2658533"/>
            <a:ext cx="4478866" cy="677334"/>
          </a:xfrm>
          <a:prstGeom prst="rect">
            <a:avLst/>
          </a:prstGeom>
          <a:solidFill>
            <a:schemeClr val="accent3">
              <a:lumMod val="20000"/>
              <a:lumOff val="8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solidFill>
                  <a:schemeClr val="tx1"/>
                </a:solidFill>
              </a:rPr>
              <a:t>Forecasting/Scheduling</a:t>
            </a:r>
            <a:endParaRPr lang="en-US" sz="2400" dirty="0">
              <a:solidFill>
                <a:schemeClr val="tx1"/>
              </a:solidFill>
            </a:endParaRPr>
          </a:p>
        </p:txBody>
      </p:sp>
      <p:sp>
        <p:nvSpPr>
          <p:cNvPr id="11" name="Rectangle 10"/>
          <p:cNvSpPr/>
          <p:nvPr/>
        </p:nvSpPr>
        <p:spPr>
          <a:xfrm>
            <a:off x="6578600" y="2658533"/>
            <a:ext cx="4478866" cy="677334"/>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400" dirty="0" smtClean="0">
                <a:solidFill>
                  <a:schemeClr val="tx1"/>
                </a:solidFill>
              </a:rPr>
              <a:t>Maximizing Manning</a:t>
            </a:r>
            <a:endParaRPr lang="en-US" sz="2400" dirty="0">
              <a:solidFill>
                <a:schemeClr val="tx1"/>
              </a:solidFill>
            </a:endParaRPr>
          </a:p>
        </p:txBody>
      </p:sp>
    </p:spTree>
    <p:extLst>
      <p:ext uri="{BB962C8B-B14F-4D97-AF65-F5344CB8AC3E}">
        <p14:creationId xmlns:p14="http://schemas.microsoft.com/office/powerpoint/2010/main" val="2586601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0" y="-821"/>
            <a:ext cx="9144000" cy="230832"/>
          </a:xfrm>
          <a:prstGeom prst="rect">
            <a:avLst/>
          </a:prstGeom>
          <a:noFill/>
        </p:spPr>
        <p:txBody>
          <a:bodyPr wrap="square" rtlCol="0">
            <a:spAutoFit/>
          </a:bodyPr>
          <a:lstStyle/>
          <a:p>
            <a:pPr algn="ctr" defTabSz="342900">
              <a:defRPr/>
            </a:pPr>
            <a:r>
              <a:rPr lang="en-US" sz="900" b="1" dirty="0">
                <a:solidFill>
                  <a:srgbClr val="00B050"/>
                </a:solidFill>
                <a:latin typeface="Calibri" panose="020F0502020204030204"/>
              </a:rPr>
              <a:t>UNCLASSIFIED//FOUO</a:t>
            </a:r>
          </a:p>
        </p:txBody>
      </p:sp>
      <p:sp>
        <p:nvSpPr>
          <p:cNvPr id="5" name="TextBox 4"/>
          <p:cNvSpPr txBox="1"/>
          <p:nvPr/>
        </p:nvSpPr>
        <p:spPr>
          <a:xfrm>
            <a:off x="1524000" y="6627168"/>
            <a:ext cx="9144000" cy="230832"/>
          </a:xfrm>
          <a:prstGeom prst="rect">
            <a:avLst/>
          </a:prstGeom>
          <a:noFill/>
        </p:spPr>
        <p:txBody>
          <a:bodyPr wrap="square" rtlCol="0">
            <a:spAutoFit/>
          </a:bodyPr>
          <a:lstStyle/>
          <a:p>
            <a:pPr algn="ctr" defTabSz="342900">
              <a:defRPr/>
            </a:pPr>
            <a:r>
              <a:rPr lang="en-US" sz="900" b="1" dirty="0">
                <a:solidFill>
                  <a:srgbClr val="00B050"/>
                </a:solidFill>
                <a:latin typeface="Calibri" panose="020F0502020204030204"/>
              </a:rPr>
              <a:t>UNCLASSIFIED//FOUO</a:t>
            </a:r>
          </a:p>
        </p:txBody>
      </p:sp>
      <p:sp>
        <p:nvSpPr>
          <p:cNvPr id="8" name="Title 7"/>
          <p:cNvSpPr>
            <a:spLocks noGrp="1"/>
          </p:cNvSpPr>
          <p:nvPr>
            <p:ph type="title"/>
          </p:nvPr>
        </p:nvSpPr>
        <p:spPr/>
        <p:txBody>
          <a:bodyPr/>
          <a:lstStyle/>
          <a:p>
            <a:pPr algn="ctr"/>
            <a:r>
              <a:rPr lang="en-US" dirty="0" smtClean="0"/>
              <a:t>Finding a Root Cause</a:t>
            </a:r>
            <a:endParaRPr lang="en-US" dirty="0"/>
          </a:p>
        </p:txBody>
      </p:sp>
      <p:sp>
        <p:nvSpPr>
          <p:cNvPr id="10" name="Rectangle 9"/>
          <p:cNvSpPr/>
          <p:nvPr/>
        </p:nvSpPr>
        <p:spPr>
          <a:xfrm>
            <a:off x="4297823" y="5743161"/>
            <a:ext cx="118533" cy="764485"/>
          </a:xfrm>
          <a:prstGeom prst="rect">
            <a:avLst/>
          </a:prstGeom>
          <a:solidFill>
            <a:srgbClr val="FFE699">
              <a:alpha val="67059"/>
            </a:srgbClr>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 name="Rectangle 2"/>
          <p:cNvSpPr/>
          <p:nvPr/>
        </p:nvSpPr>
        <p:spPr>
          <a:xfrm>
            <a:off x="1096378" y="1098868"/>
            <a:ext cx="2929357" cy="488684"/>
          </a:xfrm>
          <a:prstGeom prst="rect">
            <a:avLst/>
          </a:prstGeom>
          <a:solidFill>
            <a:schemeClr val="accent3">
              <a:lumMod val="20000"/>
              <a:lumOff val="80000"/>
            </a:schemeClr>
          </a:solidFill>
          <a:ln>
            <a:solidFill>
              <a:srgbClr val="777777"/>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1"/>
                </a:solidFill>
              </a:rPr>
              <a:t>Forecasting/Scheduling</a:t>
            </a:r>
            <a:endParaRPr lang="en-US" dirty="0">
              <a:solidFill>
                <a:schemeClr val="tx1"/>
              </a:solidFill>
            </a:endParaRPr>
          </a:p>
        </p:txBody>
      </p:sp>
      <p:sp>
        <p:nvSpPr>
          <p:cNvPr id="11" name="Rectangle 10"/>
          <p:cNvSpPr/>
          <p:nvPr/>
        </p:nvSpPr>
        <p:spPr>
          <a:xfrm>
            <a:off x="4666673" y="1098868"/>
            <a:ext cx="2929357" cy="488684"/>
          </a:xfrm>
          <a:prstGeom prst="rect">
            <a:avLst/>
          </a:prstGeom>
          <a:solidFill>
            <a:schemeClr val="accent6">
              <a:lumMod val="40000"/>
              <a:lumOff val="60000"/>
            </a:schemeClr>
          </a:solidFill>
          <a:ln>
            <a:solidFill>
              <a:srgbClr val="77777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solidFill>
                  <a:schemeClr val="tx1"/>
                </a:solidFill>
              </a:rPr>
              <a:t>Maximizing Manning</a:t>
            </a:r>
            <a:endParaRPr lang="en-US" dirty="0">
              <a:solidFill>
                <a:schemeClr val="tx1"/>
              </a:solidFill>
            </a:endParaRPr>
          </a:p>
        </p:txBody>
      </p:sp>
      <p:sp>
        <p:nvSpPr>
          <p:cNvPr id="9" name="Rectangle 8"/>
          <p:cNvSpPr/>
          <p:nvPr/>
        </p:nvSpPr>
        <p:spPr>
          <a:xfrm>
            <a:off x="1096378" y="1957633"/>
            <a:ext cx="2929357" cy="488684"/>
          </a:xfrm>
          <a:prstGeom prst="rect">
            <a:avLst/>
          </a:prstGeom>
          <a:solidFill>
            <a:schemeClr val="accent3">
              <a:lumMod val="20000"/>
              <a:lumOff val="80000"/>
            </a:schemeClr>
          </a:solidFill>
          <a:ln>
            <a:solidFill>
              <a:srgbClr val="777777"/>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1"/>
                </a:solidFill>
              </a:rPr>
              <a:t>Talent Management</a:t>
            </a:r>
            <a:endParaRPr lang="en-US" dirty="0">
              <a:solidFill>
                <a:schemeClr val="tx1"/>
              </a:solidFill>
            </a:endParaRPr>
          </a:p>
        </p:txBody>
      </p:sp>
      <p:sp>
        <p:nvSpPr>
          <p:cNvPr id="12" name="Rectangle 11"/>
          <p:cNvSpPr/>
          <p:nvPr/>
        </p:nvSpPr>
        <p:spPr>
          <a:xfrm>
            <a:off x="4666673" y="1960873"/>
            <a:ext cx="2929357" cy="488684"/>
          </a:xfrm>
          <a:prstGeom prst="rect">
            <a:avLst/>
          </a:prstGeom>
          <a:solidFill>
            <a:schemeClr val="accent6">
              <a:lumMod val="40000"/>
              <a:lumOff val="60000"/>
            </a:schemeClr>
          </a:solidFill>
          <a:ln>
            <a:solidFill>
              <a:srgbClr val="77777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solidFill>
                  <a:schemeClr val="tx1"/>
                </a:solidFill>
              </a:rPr>
              <a:t>Tradecraft (1NX)</a:t>
            </a:r>
            <a:endParaRPr lang="en-US" dirty="0">
              <a:solidFill>
                <a:schemeClr val="tx1"/>
              </a:solidFill>
            </a:endParaRPr>
          </a:p>
        </p:txBody>
      </p:sp>
      <p:sp>
        <p:nvSpPr>
          <p:cNvPr id="13" name="Rectangle 12"/>
          <p:cNvSpPr/>
          <p:nvPr/>
        </p:nvSpPr>
        <p:spPr>
          <a:xfrm>
            <a:off x="8112715" y="1958922"/>
            <a:ext cx="2929357" cy="488684"/>
          </a:xfrm>
          <a:prstGeom prst="rect">
            <a:avLst/>
          </a:prstGeom>
          <a:solidFill>
            <a:schemeClr val="accent3">
              <a:lumMod val="20000"/>
              <a:lumOff val="80000"/>
            </a:schemeClr>
          </a:solidFill>
          <a:ln>
            <a:solidFill>
              <a:srgbClr val="777777"/>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1"/>
                </a:solidFill>
              </a:rPr>
              <a:t>Tools and Sensors</a:t>
            </a:r>
            <a:endParaRPr lang="en-US" dirty="0">
              <a:solidFill>
                <a:schemeClr val="tx1"/>
              </a:solidFill>
            </a:endParaRPr>
          </a:p>
        </p:txBody>
      </p:sp>
      <p:sp>
        <p:nvSpPr>
          <p:cNvPr id="14" name="Rectangle 13"/>
          <p:cNvSpPr/>
          <p:nvPr/>
        </p:nvSpPr>
        <p:spPr>
          <a:xfrm>
            <a:off x="4684452" y="2822878"/>
            <a:ext cx="2929357" cy="488684"/>
          </a:xfrm>
          <a:prstGeom prst="rect">
            <a:avLst/>
          </a:prstGeom>
          <a:solidFill>
            <a:schemeClr val="accent6">
              <a:lumMod val="40000"/>
              <a:lumOff val="60000"/>
            </a:schemeClr>
          </a:solidFill>
          <a:ln>
            <a:solidFill>
              <a:srgbClr val="77777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solidFill>
                  <a:schemeClr val="tx1"/>
                </a:solidFill>
              </a:rPr>
              <a:t>Training</a:t>
            </a:r>
            <a:endParaRPr lang="en-US" dirty="0">
              <a:solidFill>
                <a:schemeClr val="tx1"/>
              </a:solidFill>
            </a:endParaRPr>
          </a:p>
        </p:txBody>
      </p:sp>
      <p:sp>
        <p:nvSpPr>
          <p:cNvPr id="15" name="Rectangle 14"/>
          <p:cNvSpPr/>
          <p:nvPr/>
        </p:nvSpPr>
        <p:spPr>
          <a:xfrm>
            <a:off x="4684452" y="3684883"/>
            <a:ext cx="2929357" cy="488684"/>
          </a:xfrm>
          <a:prstGeom prst="rect">
            <a:avLst/>
          </a:prstGeom>
          <a:solidFill>
            <a:schemeClr val="accent6">
              <a:lumMod val="40000"/>
              <a:lumOff val="60000"/>
            </a:schemeClr>
          </a:solidFill>
          <a:ln>
            <a:solidFill>
              <a:srgbClr val="77777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dirty="0" smtClean="0">
                <a:solidFill>
                  <a:schemeClr val="tx1"/>
                </a:solidFill>
              </a:rPr>
              <a:t>Process is inefficient and ineffective</a:t>
            </a:r>
            <a:endParaRPr lang="en-US" sz="1600" dirty="0">
              <a:solidFill>
                <a:schemeClr val="tx1"/>
              </a:solidFill>
            </a:endParaRPr>
          </a:p>
        </p:txBody>
      </p:sp>
      <p:sp>
        <p:nvSpPr>
          <p:cNvPr id="16" name="Rectangle 15"/>
          <p:cNvSpPr/>
          <p:nvPr/>
        </p:nvSpPr>
        <p:spPr>
          <a:xfrm>
            <a:off x="4684452" y="4546889"/>
            <a:ext cx="2929357" cy="488684"/>
          </a:xfrm>
          <a:prstGeom prst="rect">
            <a:avLst/>
          </a:prstGeom>
          <a:solidFill>
            <a:schemeClr val="accent6">
              <a:lumMod val="40000"/>
              <a:lumOff val="60000"/>
            </a:schemeClr>
          </a:solidFill>
          <a:ln>
            <a:solidFill>
              <a:srgbClr val="77777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solidFill>
                  <a:schemeClr val="tx1"/>
                </a:solidFill>
              </a:rPr>
              <a:t>Tradecraft (1NX)</a:t>
            </a:r>
            <a:endParaRPr lang="en-US" dirty="0">
              <a:solidFill>
                <a:schemeClr val="tx1"/>
              </a:solidFill>
            </a:endParaRPr>
          </a:p>
        </p:txBody>
      </p:sp>
      <p:sp>
        <p:nvSpPr>
          <p:cNvPr id="17" name="Rectangle 16"/>
          <p:cNvSpPr/>
          <p:nvPr/>
        </p:nvSpPr>
        <p:spPr>
          <a:xfrm>
            <a:off x="4631321" y="5408895"/>
            <a:ext cx="2929357" cy="488684"/>
          </a:xfrm>
          <a:prstGeom prst="rect">
            <a:avLst/>
          </a:prstGeom>
          <a:solidFill>
            <a:schemeClr val="accent4">
              <a:lumMod val="40000"/>
              <a:lumOff val="60000"/>
            </a:schemeClr>
          </a:solidFill>
          <a:ln>
            <a:solidFill>
              <a:srgbClr val="77777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solidFill>
                  <a:schemeClr val="tx1"/>
                </a:solidFill>
              </a:rPr>
              <a:t>Limited Focus on Quality</a:t>
            </a:r>
            <a:endParaRPr lang="en-US" dirty="0">
              <a:solidFill>
                <a:schemeClr val="tx1"/>
              </a:solidFill>
            </a:endParaRPr>
          </a:p>
        </p:txBody>
      </p:sp>
      <p:sp>
        <p:nvSpPr>
          <p:cNvPr id="6" name="Down Arrow 5"/>
          <p:cNvSpPr/>
          <p:nvPr/>
        </p:nvSpPr>
        <p:spPr>
          <a:xfrm>
            <a:off x="6014291" y="1619504"/>
            <a:ext cx="234119" cy="30941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own Arrow 17"/>
          <p:cNvSpPr/>
          <p:nvPr/>
        </p:nvSpPr>
        <p:spPr>
          <a:xfrm>
            <a:off x="6014290" y="2481509"/>
            <a:ext cx="234119" cy="30941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own Arrow 18"/>
          <p:cNvSpPr/>
          <p:nvPr/>
        </p:nvSpPr>
        <p:spPr>
          <a:xfrm>
            <a:off x="6014289" y="3343514"/>
            <a:ext cx="234119" cy="30941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wn Arrow 19"/>
          <p:cNvSpPr/>
          <p:nvPr/>
        </p:nvSpPr>
        <p:spPr>
          <a:xfrm>
            <a:off x="6014289" y="4205520"/>
            <a:ext cx="234119" cy="30941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own Arrow 20"/>
          <p:cNvSpPr/>
          <p:nvPr/>
        </p:nvSpPr>
        <p:spPr>
          <a:xfrm>
            <a:off x="6014289" y="5067526"/>
            <a:ext cx="234119" cy="30941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7710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0" y="-821"/>
            <a:ext cx="9144000" cy="230832"/>
          </a:xfrm>
          <a:prstGeom prst="rect">
            <a:avLst/>
          </a:prstGeom>
          <a:noFill/>
        </p:spPr>
        <p:txBody>
          <a:bodyPr wrap="square" rtlCol="0">
            <a:spAutoFit/>
          </a:bodyPr>
          <a:lstStyle/>
          <a:p>
            <a:pPr algn="ctr" defTabSz="342900">
              <a:defRPr/>
            </a:pPr>
            <a:r>
              <a:rPr lang="en-US" sz="900" b="1" dirty="0">
                <a:solidFill>
                  <a:srgbClr val="00B050"/>
                </a:solidFill>
                <a:latin typeface="Calibri" panose="020F0502020204030204"/>
              </a:rPr>
              <a:t>UNCLASSIFIED//FOUO</a:t>
            </a:r>
          </a:p>
        </p:txBody>
      </p:sp>
      <p:sp>
        <p:nvSpPr>
          <p:cNvPr id="5" name="TextBox 4"/>
          <p:cNvSpPr txBox="1"/>
          <p:nvPr/>
        </p:nvSpPr>
        <p:spPr>
          <a:xfrm>
            <a:off x="1524000" y="6627168"/>
            <a:ext cx="9144000" cy="230832"/>
          </a:xfrm>
          <a:prstGeom prst="rect">
            <a:avLst/>
          </a:prstGeom>
          <a:noFill/>
        </p:spPr>
        <p:txBody>
          <a:bodyPr wrap="square" rtlCol="0">
            <a:spAutoFit/>
          </a:bodyPr>
          <a:lstStyle/>
          <a:p>
            <a:pPr algn="ctr" defTabSz="342900">
              <a:defRPr/>
            </a:pPr>
            <a:r>
              <a:rPr lang="en-US" sz="900" b="1" dirty="0">
                <a:solidFill>
                  <a:srgbClr val="00B050"/>
                </a:solidFill>
                <a:latin typeface="Calibri" panose="020F0502020204030204"/>
              </a:rPr>
              <a:t>UNCLASSIFIED//FOUO</a:t>
            </a:r>
          </a:p>
        </p:txBody>
      </p:sp>
      <p:sp>
        <p:nvSpPr>
          <p:cNvPr id="8" name="Title 7"/>
          <p:cNvSpPr>
            <a:spLocks noGrp="1"/>
          </p:cNvSpPr>
          <p:nvPr>
            <p:ph type="title"/>
          </p:nvPr>
        </p:nvSpPr>
        <p:spPr/>
        <p:txBody>
          <a:bodyPr/>
          <a:lstStyle/>
          <a:p>
            <a:pPr algn="ctr"/>
            <a:r>
              <a:rPr lang="en-US" dirty="0" smtClean="0"/>
              <a:t>Team 2 Problem Statement</a:t>
            </a:r>
            <a:endParaRPr lang="en-US" dirty="0"/>
          </a:p>
        </p:txBody>
      </p:sp>
      <p:sp>
        <p:nvSpPr>
          <p:cNvPr id="9" name="Content Placeholder 8"/>
          <p:cNvSpPr>
            <a:spLocks noGrp="1"/>
          </p:cNvSpPr>
          <p:nvPr>
            <p:ph idx="1"/>
          </p:nvPr>
        </p:nvSpPr>
        <p:spPr/>
        <p:txBody>
          <a:bodyPr anchor="ctr"/>
          <a:lstStyle/>
          <a:p>
            <a:pPr marL="0" indent="0" algn="ctr">
              <a:buNone/>
            </a:pPr>
            <a:r>
              <a:rPr lang="en-US" dirty="0" smtClean="0"/>
              <a:t>“The lack of focus on </a:t>
            </a:r>
            <a:r>
              <a:rPr lang="en-US" dirty="0" smtClean="0">
                <a:solidFill>
                  <a:srgbClr val="0070C0"/>
                </a:solidFill>
              </a:rPr>
              <a:t>quality training </a:t>
            </a:r>
            <a:r>
              <a:rPr lang="en-US" dirty="0" smtClean="0"/>
              <a:t>results in a flawed, neglected </a:t>
            </a:r>
            <a:r>
              <a:rPr lang="en-US" dirty="0" smtClean="0">
                <a:solidFill>
                  <a:srgbClr val="E2AC00"/>
                </a:solidFill>
              </a:rPr>
              <a:t>tradecraft</a:t>
            </a:r>
            <a:r>
              <a:rPr lang="en-US" dirty="0" smtClean="0"/>
              <a:t> which negatively affects the optimization of our manning.”</a:t>
            </a:r>
            <a:endParaRPr lang="en-US" dirty="0"/>
          </a:p>
          <a:p>
            <a:pPr marL="0" indent="0" algn="ctr">
              <a:buNone/>
            </a:pPr>
            <a:endParaRPr lang="en-US" dirty="0"/>
          </a:p>
        </p:txBody>
      </p:sp>
      <p:sp>
        <p:nvSpPr>
          <p:cNvPr id="10" name="Rectangle 9"/>
          <p:cNvSpPr/>
          <p:nvPr/>
        </p:nvSpPr>
        <p:spPr>
          <a:xfrm>
            <a:off x="5724127" y="5754848"/>
            <a:ext cx="118533" cy="764485"/>
          </a:xfrm>
          <a:prstGeom prst="rect">
            <a:avLst/>
          </a:prstGeom>
          <a:solidFill>
            <a:srgbClr val="FFE699">
              <a:alpha val="67059"/>
            </a:srgbClr>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2148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0" y="-821"/>
            <a:ext cx="9144000" cy="230832"/>
          </a:xfrm>
          <a:prstGeom prst="rect">
            <a:avLst/>
          </a:prstGeom>
          <a:noFill/>
        </p:spPr>
        <p:txBody>
          <a:bodyPr wrap="square" rtlCol="0">
            <a:spAutoFit/>
          </a:bodyPr>
          <a:lstStyle/>
          <a:p>
            <a:pPr algn="ctr" defTabSz="342900">
              <a:defRPr/>
            </a:pPr>
            <a:r>
              <a:rPr lang="en-US" sz="900" b="1" dirty="0">
                <a:solidFill>
                  <a:srgbClr val="00B050"/>
                </a:solidFill>
                <a:latin typeface="Calibri" panose="020F0502020204030204"/>
              </a:rPr>
              <a:t>UNCLASSIFIED//FOUO</a:t>
            </a:r>
          </a:p>
        </p:txBody>
      </p:sp>
      <p:sp>
        <p:nvSpPr>
          <p:cNvPr id="5" name="TextBox 4"/>
          <p:cNvSpPr txBox="1"/>
          <p:nvPr/>
        </p:nvSpPr>
        <p:spPr>
          <a:xfrm>
            <a:off x="1524000" y="6627168"/>
            <a:ext cx="9144000" cy="230832"/>
          </a:xfrm>
          <a:prstGeom prst="rect">
            <a:avLst/>
          </a:prstGeom>
          <a:noFill/>
        </p:spPr>
        <p:txBody>
          <a:bodyPr wrap="square" rtlCol="0">
            <a:spAutoFit/>
          </a:bodyPr>
          <a:lstStyle/>
          <a:p>
            <a:pPr algn="ctr" defTabSz="342900">
              <a:defRPr/>
            </a:pPr>
            <a:r>
              <a:rPr lang="en-US" sz="900" b="1" dirty="0">
                <a:solidFill>
                  <a:srgbClr val="00B050"/>
                </a:solidFill>
                <a:latin typeface="Calibri" panose="020F0502020204030204"/>
              </a:rPr>
              <a:t>UNCLASSIFIED//FOUO</a:t>
            </a:r>
          </a:p>
        </p:txBody>
      </p:sp>
      <p:sp>
        <p:nvSpPr>
          <p:cNvPr id="8" name="Title 7"/>
          <p:cNvSpPr>
            <a:spLocks noGrp="1"/>
          </p:cNvSpPr>
          <p:nvPr>
            <p:ph type="title"/>
          </p:nvPr>
        </p:nvSpPr>
        <p:spPr/>
        <p:txBody>
          <a:bodyPr/>
          <a:lstStyle/>
          <a:p>
            <a:pPr algn="ctr"/>
            <a:r>
              <a:rPr lang="en-US" dirty="0" smtClean="0"/>
              <a:t>Finding Solutions</a:t>
            </a:r>
            <a:endParaRPr lang="en-US" dirty="0"/>
          </a:p>
        </p:txBody>
      </p:sp>
      <p:sp>
        <p:nvSpPr>
          <p:cNvPr id="10" name="Rectangle 9"/>
          <p:cNvSpPr/>
          <p:nvPr/>
        </p:nvSpPr>
        <p:spPr>
          <a:xfrm>
            <a:off x="8432772" y="5704999"/>
            <a:ext cx="118533" cy="764485"/>
          </a:xfrm>
          <a:prstGeom prst="rect">
            <a:avLst/>
          </a:prstGeom>
          <a:solidFill>
            <a:srgbClr val="FFE699">
              <a:alpha val="67059"/>
            </a:srgbClr>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 name="Rectangle 10"/>
          <p:cNvSpPr/>
          <p:nvPr/>
        </p:nvSpPr>
        <p:spPr>
          <a:xfrm>
            <a:off x="407609" y="1171291"/>
            <a:ext cx="2371217" cy="610008"/>
          </a:xfrm>
          <a:prstGeom prst="rect">
            <a:avLst/>
          </a:prstGeom>
          <a:solidFill>
            <a:schemeClr val="accent3">
              <a:lumMod val="20000"/>
              <a:lumOff val="80000"/>
            </a:schemeClr>
          </a:solidFill>
          <a:ln>
            <a:solidFill>
              <a:srgbClr val="777777"/>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1"/>
                </a:solidFill>
              </a:rPr>
              <a:t>Talent Management</a:t>
            </a:r>
            <a:endParaRPr lang="en-US" dirty="0">
              <a:solidFill>
                <a:schemeClr val="tx1"/>
              </a:solidFill>
            </a:endParaRPr>
          </a:p>
        </p:txBody>
      </p:sp>
      <p:sp>
        <p:nvSpPr>
          <p:cNvPr id="12" name="Rectangle 11"/>
          <p:cNvSpPr/>
          <p:nvPr/>
        </p:nvSpPr>
        <p:spPr>
          <a:xfrm>
            <a:off x="3398357" y="1981503"/>
            <a:ext cx="2371217" cy="610008"/>
          </a:xfrm>
          <a:prstGeom prst="rect">
            <a:avLst/>
          </a:prstGeom>
          <a:solidFill>
            <a:schemeClr val="accent6">
              <a:lumMod val="40000"/>
              <a:lumOff val="60000"/>
            </a:schemeClr>
          </a:solidFill>
          <a:ln>
            <a:solidFill>
              <a:srgbClr val="77777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solidFill>
                  <a:schemeClr val="tx1"/>
                </a:solidFill>
              </a:rPr>
              <a:t>IQT/MQT/CT Revitalization</a:t>
            </a:r>
            <a:endParaRPr lang="en-US" dirty="0">
              <a:solidFill>
                <a:schemeClr val="tx1"/>
              </a:solidFill>
            </a:endParaRPr>
          </a:p>
        </p:txBody>
      </p:sp>
      <p:sp>
        <p:nvSpPr>
          <p:cNvPr id="13" name="Rectangle 12"/>
          <p:cNvSpPr/>
          <p:nvPr/>
        </p:nvSpPr>
        <p:spPr>
          <a:xfrm>
            <a:off x="3398358" y="1171291"/>
            <a:ext cx="2371217" cy="610008"/>
          </a:xfrm>
          <a:prstGeom prst="rect">
            <a:avLst/>
          </a:prstGeom>
          <a:solidFill>
            <a:schemeClr val="accent3">
              <a:lumMod val="20000"/>
              <a:lumOff val="80000"/>
            </a:schemeClr>
          </a:solidFill>
          <a:ln>
            <a:solidFill>
              <a:srgbClr val="777777"/>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1"/>
                </a:solidFill>
              </a:rPr>
              <a:t>Physical Restructure</a:t>
            </a:r>
            <a:endParaRPr lang="en-US" dirty="0">
              <a:solidFill>
                <a:schemeClr val="tx1"/>
              </a:solidFill>
            </a:endParaRPr>
          </a:p>
        </p:txBody>
      </p:sp>
      <p:sp>
        <p:nvSpPr>
          <p:cNvPr id="14" name="Rectangle 13"/>
          <p:cNvSpPr/>
          <p:nvPr/>
        </p:nvSpPr>
        <p:spPr>
          <a:xfrm>
            <a:off x="6389107" y="1171291"/>
            <a:ext cx="2371217" cy="610008"/>
          </a:xfrm>
          <a:prstGeom prst="rect">
            <a:avLst/>
          </a:prstGeom>
          <a:solidFill>
            <a:schemeClr val="accent3">
              <a:lumMod val="20000"/>
              <a:lumOff val="80000"/>
            </a:schemeClr>
          </a:solidFill>
          <a:ln>
            <a:solidFill>
              <a:srgbClr val="777777"/>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1"/>
                </a:solidFill>
              </a:rPr>
              <a:t>Improve Current Tech</a:t>
            </a:r>
            <a:endParaRPr lang="en-US" dirty="0">
              <a:solidFill>
                <a:schemeClr val="tx1"/>
              </a:solidFill>
            </a:endParaRPr>
          </a:p>
        </p:txBody>
      </p:sp>
      <p:sp>
        <p:nvSpPr>
          <p:cNvPr id="15" name="Rectangle 14"/>
          <p:cNvSpPr/>
          <p:nvPr/>
        </p:nvSpPr>
        <p:spPr>
          <a:xfrm>
            <a:off x="9379857" y="1171291"/>
            <a:ext cx="2371217" cy="610008"/>
          </a:xfrm>
          <a:prstGeom prst="rect">
            <a:avLst/>
          </a:prstGeom>
          <a:solidFill>
            <a:schemeClr val="accent3">
              <a:lumMod val="20000"/>
              <a:lumOff val="80000"/>
            </a:schemeClr>
          </a:solidFill>
          <a:ln>
            <a:solidFill>
              <a:srgbClr val="777777"/>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1"/>
                </a:solidFill>
              </a:rPr>
              <a:t>Manning Allocation</a:t>
            </a:r>
            <a:endParaRPr lang="en-US" dirty="0">
              <a:solidFill>
                <a:schemeClr val="tx1"/>
              </a:solidFill>
            </a:endParaRPr>
          </a:p>
        </p:txBody>
      </p:sp>
      <p:sp>
        <p:nvSpPr>
          <p:cNvPr id="16" name="Rectangle 15"/>
          <p:cNvSpPr/>
          <p:nvPr/>
        </p:nvSpPr>
        <p:spPr>
          <a:xfrm>
            <a:off x="407609" y="1925479"/>
            <a:ext cx="2371217" cy="610008"/>
          </a:xfrm>
          <a:prstGeom prst="rect">
            <a:avLst/>
          </a:prstGeom>
          <a:solidFill>
            <a:schemeClr val="accent3">
              <a:lumMod val="20000"/>
              <a:lumOff val="80000"/>
            </a:schemeClr>
          </a:solidFill>
          <a:ln>
            <a:solidFill>
              <a:srgbClr val="777777"/>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1"/>
                </a:solidFill>
              </a:rPr>
              <a:t>Increase Manning</a:t>
            </a:r>
            <a:endParaRPr lang="en-US" dirty="0">
              <a:solidFill>
                <a:schemeClr val="tx1"/>
              </a:solidFill>
            </a:endParaRPr>
          </a:p>
        </p:txBody>
      </p:sp>
      <p:sp>
        <p:nvSpPr>
          <p:cNvPr id="18" name="Rectangle 17"/>
          <p:cNvSpPr/>
          <p:nvPr/>
        </p:nvSpPr>
        <p:spPr>
          <a:xfrm>
            <a:off x="6389107" y="1925479"/>
            <a:ext cx="2371217" cy="610008"/>
          </a:xfrm>
          <a:prstGeom prst="rect">
            <a:avLst/>
          </a:prstGeom>
          <a:solidFill>
            <a:schemeClr val="accent3">
              <a:lumMod val="20000"/>
              <a:lumOff val="80000"/>
            </a:schemeClr>
          </a:solidFill>
          <a:ln>
            <a:solidFill>
              <a:srgbClr val="777777"/>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1"/>
                </a:solidFill>
              </a:rPr>
              <a:t>Incorporate New Tech</a:t>
            </a:r>
            <a:endParaRPr lang="en-US" dirty="0">
              <a:solidFill>
                <a:schemeClr val="tx1"/>
              </a:solidFill>
            </a:endParaRPr>
          </a:p>
        </p:txBody>
      </p:sp>
      <p:sp>
        <p:nvSpPr>
          <p:cNvPr id="19" name="Rectangle 18"/>
          <p:cNvSpPr/>
          <p:nvPr/>
        </p:nvSpPr>
        <p:spPr>
          <a:xfrm>
            <a:off x="9379857" y="1925479"/>
            <a:ext cx="2371217" cy="610008"/>
          </a:xfrm>
          <a:prstGeom prst="rect">
            <a:avLst/>
          </a:prstGeom>
          <a:solidFill>
            <a:schemeClr val="accent3">
              <a:lumMod val="20000"/>
              <a:lumOff val="80000"/>
            </a:schemeClr>
          </a:solidFill>
          <a:ln>
            <a:solidFill>
              <a:srgbClr val="777777"/>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1"/>
                </a:solidFill>
              </a:rPr>
              <a:t>Resolve Clearance Issues</a:t>
            </a:r>
            <a:endParaRPr lang="en-US" dirty="0">
              <a:solidFill>
                <a:schemeClr val="tx1"/>
              </a:solidFill>
            </a:endParaRPr>
          </a:p>
        </p:txBody>
      </p:sp>
      <p:sp>
        <p:nvSpPr>
          <p:cNvPr id="3" name="Rectangle 2"/>
          <p:cNvSpPr/>
          <p:nvPr/>
        </p:nvSpPr>
        <p:spPr>
          <a:xfrm>
            <a:off x="431840" y="5451254"/>
            <a:ext cx="141544" cy="14154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0" name="Rectangle 19"/>
          <p:cNvSpPr/>
          <p:nvPr/>
        </p:nvSpPr>
        <p:spPr>
          <a:xfrm>
            <a:off x="738619" y="5597101"/>
            <a:ext cx="141544" cy="14154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1" name="Rectangle 20"/>
          <p:cNvSpPr/>
          <p:nvPr/>
        </p:nvSpPr>
        <p:spPr>
          <a:xfrm>
            <a:off x="635589" y="5108233"/>
            <a:ext cx="141544" cy="14154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2" name="Rectangle 21"/>
          <p:cNvSpPr/>
          <p:nvPr/>
        </p:nvSpPr>
        <p:spPr>
          <a:xfrm>
            <a:off x="1134587" y="5272088"/>
            <a:ext cx="235634" cy="23563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3" name="Rectangle 22"/>
          <p:cNvSpPr/>
          <p:nvPr/>
        </p:nvSpPr>
        <p:spPr>
          <a:xfrm>
            <a:off x="1277879" y="4648959"/>
            <a:ext cx="343036" cy="34303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4" name="Rectangle 23"/>
          <p:cNvSpPr/>
          <p:nvPr/>
        </p:nvSpPr>
        <p:spPr>
          <a:xfrm>
            <a:off x="1955865" y="4952010"/>
            <a:ext cx="343036" cy="34303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5" name="Rectangle 24"/>
          <p:cNvSpPr/>
          <p:nvPr/>
        </p:nvSpPr>
        <p:spPr>
          <a:xfrm>
            <a:off x="2717378" y="3890243"/>
            <a:ext cx="482826" cy="48282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6" name="Rectangle 25"/>
          <p:cNvSpPr/>
          <p:nvPr/>
        </p:nvSpPr>
        <p:spPr>
          <a:xfrm>
            <a:off x="3887293" y="4806188"/>
            <a:ext cx="482826" cy="48282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7" name="Rectangle 26"/>
          <p:cNvSpPr/>
          <p:nvPr/>
        </p:nvSpPr>
        <p:spPr>
          <a:xfrm>
            <a:off x="3990015" y="3219738"/>
            <a:ext cx="910518" cy="91051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8" name="Rectangle 27"/>
          <p:cNvSpPr/>
          <p:nvPr/>
        </p:nvSpPr>
        <p:spPr>
          <a:xfrm>
            <a:off x="5264401" y="4048547"/>
            <a:ext cx="1302327" cy="123719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9" name="Rectangle 28"/>
          <p:cNvSpPr/>
          <p:nvPr/>
        </p:nvSpPr>
        <p:spPr>
          <a:xfrm>
            <a:off x="6766577" y="2929406"/>
            <a:ext cx="1302327" cy="123719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0" name="Rectangle 29"/>
          <p:cNvSpPr/>
          <p:nvPr/>
        </p:nvSpPr>
        <p:spPr>
          <a:xfrm>
            <a:off x="8432772" y="3458892"/>
            <a:ext cx="1816450" cy="17256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1" name="Rectangle 30"/>
          <p:cNvSpPr/>
          <p:nvPr/>
        </p:nvSpPr>
        <p:spPr>
          <a:xfrm>
            <a:off x="2990510" y="4681201"/>
            <a:ext cx="482826" cy="48282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2" name="Rectangle 31"/>
          <p:cNvSpPr/>
          <p:nvPr/>
        </p:nvSpPr>
        <p:spPr>
          <a:xfrm>
            <a:off x="2096404" y="4159279"/>
            <a:ext cx="482826" cy="48282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3" name="Rectangle 32"/>
          <p:cNvSpPr/>
          <p:nvPr/>
        </p:nvSpPr>
        <p:spPr>
          <a:xfrm>
            <a:off x="3353696" y="4000456"/>
            <a:ext cx="482826" cy="48282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TextBox 5"/>
          <p:cNvSpPr txBox="1"/>
          <p:nvPr/>
        </p:nvSpPr>
        <p:spPr>
          <a:xfrm>
            <a:off x="109915" y="4157698"/>
            <a:ext cx="1987404" cy="369332"/>
          </a:xfrm>
          <a:prstGeom prst="rect">
            <a:avLst/>
          </a:prstGeom>
          <a:noFill/>
        </p:spPr>
        <p:txBody>
          <a:bodyPr wrap="none" rtlCol="0">
            <a:spAutoFit/>
          </a:bodyPr>
          <a:lstStyle/>
          <a:p>
            <a:r>
              <a:rPr lang="en-US" b="1" dirty="0" smtClean="0"/>
              <a:t>Potential Solutions</a:t>
            </a:r>
            <a:endParaRPr lang="en-US" b="1" dirty="0"/>
          </a:p>
        </p:txBody>
      </p:sp>
      <p:sp>
        <p:nvSpPr>
          <p:cNvPr id="34" name="Rectangle 33"/>
          <p:cNvSpPr/>
          <p:nvPr/>
        </p:nvSpPr>
        <p:spPr>
          <a:xfrm>
            <a:off x="548043" y="5723503"/>
            <a:ext cx="141544" cy="14154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5" name="Rectangle 34"/>
          <p:cNvSpPr/>
          <p:nvPr/>
        </p:nvSpPr>
        <p:spPr>
          <a:xfrm>
            <a:off x="854822" y="5869350"/>
            <a:ext cx="141544" cy="14154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6" name="Rectangle 35"/>
          <p:cNvSpPr/>
          <p:nvPr/>
        </p:nvSpPr>
        <p:spPr>
          <a:xfrm>
            <a:off x="751792" y="5380482"/>
            <a:ext cx="141544" cy="14154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2639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0" y="-821"/>
            <a:ext cx="9144000" cy="230832"/>
          </a:xfrm>
          <a:prstGeom prst="rect">
            <a:avLst/>
          </a:prstGeom>
          <a:noFill/>
        </p:spPr>
        <p:txBody>
          <a:bodyPr wrap="square" rtlCol="0">
            <a:spAutoFit/>
          </a:bodyPr>
          <a:lstStyle/>
          <a:p>
            <a:pPr algn="ctr" defTabSz="342900">
              <a:defRPr/>
            </a:pPr>
            <a:r>
              <a:rPr lang="en-US" sz="900" b="1" dirty="0">
                <a:solidFill>
                  <a:srgbClr val="00B050"/>
                </a:solidFill>
                <a:latin typeface="Calibri" panose="020F0502020204030204"/>
              </a:rPr>
              <a:t>UNCLASSIFIED//FOUO</a:t>
            </a:r>
          </a:p>
        </p:txBody>
      </p:sp>
      <p:sp>
        <p:nvSpPr>
          <p:cNvPr id="5" name="TextBox 4"/>
          <p:cNvSpPr txBox="1"/>
          <p:nvPr/>
        </p:nvSpPr>
        <p:spPr>
          <a:xfrm>
            <a:off x="1524000" y="6627168"/>
            <a:ext cx="9144000" cy="230832"/>
          </a:xfrm>
          <a:prstGeom prst="rect">
            <a:avLst/>
          </a:prstGeom>
          <a:noFill/>
        </p:spPr>
        <p:txBody>
          <a:bodyPr wrap="square" rtlCol="0">
            <a:spAutoFit/>
          </a:bodyPr>
          <a:lstStyle/>
          <a:p>
            <a:pPr algn="ctr" defTabSz="342900">
              <a:defRPr/>
            </a:pPr>
            <a:r>
              <a:rPr lang="en-US" sz="900" b="1" dirty="0">
                <a:solidFill>
                  <a:srgbClr val="00B050"/>
                </a:solidFill>
                <a:latin typeface="Calibri" panose="020F0502020204030204"/>
              </a:rPr>
              <a:t>UNCLASSIFIED//FOUO</a:t>
            </a:r>
          </a:p>
        </p:txBody>
      </p:sp>
      <p:sp>
        <p:nvSpPr>
          <p:cNvPr id="8" name="Title 7"/>
          <p:cNvSpPr>
            <a:spLocks noGrp="1"/>
          </p:cNvSpPr>
          <p:nvPr>
            <p:ph type="title"/>
          </p:nvPr>
        </p:nvSpPr>
        <p:spPr/>
        <p:txBody>
          <a:bodyPr/>
          <a:lstStyle/>
          <a:p>
            <a:pPr algn="ctr"/>
            <a:r>
              <a:rPr lang="en-US" dirty="0" smtClean="0"/>
              <a:t>Team 2 Problem Statement</a:t>
            </a:r>
            <a:endParaRPr lang="en-US" dirty="0"/>
          </a:p>
        </p:txBody>
      </p:sp>
      <p:sp>
        <p:nvSpPr>
          <p:cNvPr id="10" name="Rectangle 9"/>
          <p:cNvSpPr/>
          <p:nvPr/>
        </p:nvSpPr>
        <p:spPr>
          <a:xfrm>
            <a:off x="10130689" y="5723503"/>
            <a:ext cx="118533" cy="764485"/>
          </a:xfrm>
          <a:prstGeom prst="rect">
            <a:avLst/>
          </a:prstGeom>
          <a:solidFill>
            <a:srgbClr val="FFE699">
              <a:alpha val="67059"/>
            </a:srgbClr>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 name="Rectangle 10"/>
          <p:cNvSpPr/>
          <p:nvPr/>
        </p:nvSpPr>
        <p:spPr>
          <a:xfrm>
            <a:off x="3499374" y="1315270"/>
            <a:ext cx="2121670" cy="1105820"/>
          </a:xfrm>
          <a:prstGeom prst="rect">
            <a:avLst/>
          </a:prstGeom>
          <a:solidFill>
            <a:schemeClr val="accent3">
              <a:lumMod val="20000"/>
              <a:lumOff val="80000"/>
            </a:schemeClr>
          </a:solidFill>
          <a:ln>
            <a:solidFill>
              <a:srgbClr val="777777"/>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1"/>
                </a:solidFill>
              </a:rPr>
              <a:t>IQT is ineffective</a:t>
            </a:r>
            <a:endParaRPr lang="en-US" dirty="0">
              <a:solidFill>
                <a:schemeClr val="tx1"/>
              </a:solidFill>
            </a:endParaRPr>
          </a:p>
        </p:txBody>
      </p:sp>
      <p:sp>
        <p:nvSpPr>
          <p:cNvPr id="37" name="Rectangle 36"/>
          <p:cNvSpPr/>
          <p:nvPr/>
        </p:nvSpPr>
        <p:spPr>
          <a:xfrm>
            <a:off x="6418725" y="1325776"/>
            <a:ext cx="2121670" cy="1105820"/>
          </a:xfrm>
          <a:prstGeom prst="rect">
            <a:avLst/>
          </a:prstGeom>
          <a:solidFill>
            <a:schemeClr val="accent3">
              <a:lumMod val="20000"/>
              <a:lumOff val="80000"/>
            </a:schemeClr>
          </a:solidFill>
          <a:ln>
            <a:solidFill>
              <a:srgbClr val="777777"/>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1"/>
                </a:solidFill>
              </a:rPr>
              <a:t>Changing IQT will improve our tradecraft</a:t>
            </a:r>
            <a:endParaRPr lang="en-US" dirty="0">
              <a:solidFill>
                <a:schemeClr val="tx1"/>
              </a:solidFill>
            </a:endParaRPr>
          </a:p>
        </p:txBody>
      </p:sp>
      <p:sp>
        <p:nvSpPr>
          <p:cNvPr id="38" name="Rectangle 37"/>
          <p:cNvSpPr/>
          <p:nvPr/>
        </p:nvSpPr>
        <p:spPr>
          <a:xfrm>
            <a:off x="1128157" y="2900248"/>
            <a:ext cx="2121670" cy="1105820"/>
          </a:xfrm>
          <a:prstGeom prst="rect">
            <a:avLst/>
          </a:prstGeom>
          <a:solidFill>
            <a:schemeClr val="accent3">
              <a:lumMod val="20000"/>
              <a:lumOff val="80000"/>
            </a:schemeClr>
          </a:solidFill>
          <a:ln>
            <a:solidFill>
              <a:srgbClr val="777777"/>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1"/>
                </a:solidFill>
              </a:rPr>
              <a:t>MQT doesn’t relate to real mission operations</a:t>
            </a:r>
            <a:endParaRPr lang="en-US" dirty="0">
              <a:solidFill>
                <a:schemeClr val="tx1"/>
              </a:solidFill>
            </a:endParaRPr>
          </a:p>
        </p:txBody>
      </p:sp>
      <p:sp>
        <p:nvSpPr>
          <p:cNvPr id="39" name="Rectangle 38"/>
          <p:cNvSpPr/>
          <p:nvPr/>
        </p:nvSpPr>
        <p:spPr>
          <a:xfrm>
            <a:off x="3499374" y="4416206"/>
            <a:ext cx="2121670" cy="1105820"/>
          </a:xfrm>
          <a:prstGeom prst="rect">
            <a:avLst/>
          </a:prstGeom>
          <a:solidFill>
            <a:schemeClr val="accent3">
              <a:lumMod val="20000"/>
              <a:lumOff val="80000"/>
            </a:schemeClr>
          </a:solidFill>
          <a:ln>
            <a:solidFill>
              <a:srgbClr val="777777"/>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1"/>
                </a:solidFill>
              </a:rPr>
              <a:t>We can change IQT at </a:t>
            </a:r>
            <a:r>
              <a:rPr lang="en-US" dirty="0" err="1" smtClean="0">
                <a:solidFill>
                  <a:schemeClr val="tx1"/>
                </a:solidFill>
              </a:rPr>
              <a:t>Goodfellow</a:t>
            </a:r>
            <a:endParaRPr lang="en-US" dirty="0">
              <a:solidFill>
                <a:schemeClr val="tx1"/>
              </a:solidFill>
            </a:endParaRPr>
          </a:p>
        </p:txBody>
      </p:sp>
      <p:sp>
        <p:nvSpPr>
          <p:cNvPr id="40" name="Rectangle 39"/>
          <p:cNvSpPr/>
          <p:nvPr/>
        </p:nvSpPr>
        <p:spPr>
          <a:xfrm>
            <a:off x="6418724" y="4416206"/>
            <a:ext cx="2121670" cy="1105820"/>
          </a:xfrm>
          <a:prstGeom prst="rect">
            <a:avLst/>
          </a:prstGeom>
          <a:solidFill>
            <a:schemeClr val="accent3">
              <a:lumMod val="20000"/>
              <a:lumOff val="80000"/>
            </a:schemeClr>
          </a:solidFill>
          <a:ln>
            <a:solidFill>
              <a:srgbClr val="777777"/>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1"/>
                </a:solidFill>
              </a:rPr>
              <a:t>Changing training will make better analysts</a:t>
            </a:r>
            <a:endParaRPr lang="en-US" dirty="0">
              <a:solidFill>
                <a:schemeClr val="tx1"/>
              </a:solidFill>
            </a:endParaRPr>
          </a:p>
        </p:txBody>
      </p:sp>
      <p:sp>
        <p:nvSpPr>
          <p:cNvPr id="41" name="Rectangle 40"/>
          <p:cNvSpPr/>
          <p:nvPr/>
        </p:nvSpPr>
        <p:spPr>
          <a:xfrm>
            <a:off x="8942175" y="2900248"/>
            <a:ext cx="2121670" cy="1105820"/>
          </a:xfrm>
          <a:prstGeom prst="rect">
            <a:avLst/>
          </a:prstGeom>
          <a:solidFill>
            <a:schemeClr val="accent3">
              <a:lumMod val="20000"/>
              <a:lumOff val="80000"/>
            </a:schemeClr>
          </a:solidFill>
          <a:ln>
            <a:solidFill>
              <a:srgbClr val="777777"/>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1"/>
                </a:solidFill>
              </a:rPr>
              <a:t>There is a limited focus on tradecraft</a:t>
            </a:r>
            <a:endParaRPr lang="en-US" dirty="0">
              <a:solidFill>
                <a:schemeClr val="tx1"/>
              </a:solidFill>
            </a:endParaRPr>
          </a:p>
        </p:txBody>
      </p:sp>
      <p:sp>
        <p:nvSpPr>
          <p:cNvPr id="7" name="Rectangle 6"/>
          <p:cNvSpPr/>
          <p:nvPr/>
        </p:nvSpPr>
        <p:spPr>
          <a:xfrm>
            <a:off x="3149906" y="2940305"/>
            <a:ext cx="5892190" cy="923330"/>
          </a:xfrm>
          <a:prstGeom prst="rect">
            <a:avLst/>
          </a:prstGeom>
          <a:noFill/>
        </p:spPr>
        <p:txBody>
          <a:bodyPr wrap="none" lIns="91440" tIns="45720" rIns="91440" bIns="45720">
            <a:spAutoFit/>
          </a:bodyPr>
          <a:lstStyle/>
          <a:p>
            <a:pPr algn="ctr"/>
            <a:r>
              <a:rPr lang="en-US" sz="5400" b="0" cap="none" spc="0" dirty="0" smtClean="0">
                <a:ln w="0"/>
                <a:solidFill>
                  <a:srgbClr val="FF0000"/>
                </a:solidFill>
                <a:effectLst>
                  <a:outerShdw blurRad="38100" dist="19050" dir="2700000" algn="tl" rotWithShape="0">
                    <a:schemeClr val="dk1">
                      <a:alpha val="40000"/>
                    </a:schemeClr>
                  </a:outerShdw>
                </a:effectLst>
              </a:rPr>
              <a:t>Critical Assumptions</a:t>
            </a:r>
            <a:endParaRPr lang="en-US" sz="5400" b="0" cap="none" spc="0" dirty="0">
              <a:ln w="0"/>
              <a:solidFill>
                <a:srgbClr val="FF00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22974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Hypothesis</a:t>
            </a:r>
            <a:endParaRPr lang="en-US" dirty="0"/>
          </a:p>
        </p:txBody>
      </p:sp>
      <p:sp>
        <p:nvSpPr>
          <p:cNvPr id="4" name="Content Placeholder 8"/>
          <p:cNvSpPr>
            <a:spLocks noGrp="1"/>
          </p:cNvSpPr>
          <p:nvPr>
            <p:ph idx="1"/>
          </p:nvPr>
        </p:nvSpPr>
        <p:spPr>
          <a:xfrm>
            <a:off x="838200" y="1188062"/>
            <a:ext cx="10515600" cy="4566786"/>
          </a:xfrm>
        </p:spPr>
        <p:txBody>
          <a:bodyPr anchor="ctr"/>
          <a:lstStyle/>
          <a:p>
            <a:pPr marL="0" indent="0" algn="ctr">
              <a:buNone/>
            </a:pPr>
            <a:r>
              <a:rPr lang="en-US" dirty="0" smtClean="0"/>
              <a:t>“If we review the current requirements for IQT, MQT, and CT, and sync them to our current operational needs, then we will enhance our intelligence tradecraft to meet customer needs. This will result in optimized manning across the Wing enabling Federated PED, Sensor Agnostic Operations, and Sun-Synchronized Operations.”</a:t>
            </a:r>
            <a:endParaRPr lang="en-US" dirty="0"/>
          </a:p>
          <a:p>
            <a:pPr marL="0" indent="0" algn="ctr">
              <a:buNone/>
            </a:pPr>
            <a:endParaRPr lang="en-US" dirty="0"/>
          </a:p>
        </p:txBody>
      </p:sp>
      <p:sp>
        <p:nvSpPr>
          <p:cNvPr id="5" name="Rectangle 4"/>
          <p:cNvSpPr/>
          <p:nvPr/>
        </p:nvSpPr>
        <p:spPr>
          <a:xfrm>
            <a:off x="11603230" y="5754848"/>
            <a:ext cx="118533" cy="764485"/>
          </a:xfrm>
          <a:prstGeom prst="rect">
            <a:avLst/>
          </a:prstGeom>
          <a:solidFill>
            <a:srgbClr val="FFE699">
              <a:alpha val="67059"/>
            </a:srgbClr>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557237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96</TotalTime>
  <Words>818</Words>
  <Application>Microsoft Office PowerPoint</Application>
  <PresentationFormat>Widescreen</PresentationFormat>
  <Paragraphs>73</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Team 2</vt:lpstr>
      <vt:lpstr>ICON Problem Statement #2</vt:lpstr>
      <vt:lpstr>ICON Problem Statement #2</vt:lpstr>
      <vt:lpstr>Breaking Down the Problem</vt:lpstr>
      <vt:lpstr>Finding a Root Cause</vt:lpstr>
      <vt:lpstr>Team 2 Problem Statement</vt:lpstr>
      <vt:lpstr>Finding Solutions</vt:lpstr>
      <vt:lpstr>Team 2 Problem Statement</vt:lpstr>
      <vt:lpstr>Hypothesis</vt:lpstr>
    </vt:vector>
  </TitlesOfParts>
  <Company>U.S. Air Force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Briefing Title Goes Here</dc:title>
  <dc:creator>MITCHELL, MICA R GG-11 USAF ACC 480 ISR WG/CX</dc:creator>
  <cp:lastModifiedBy>JACKSON, BACCHUS D JR SSgt USAF ACC 480 ISR/CCI</cp:lastModifiedBy>
  <cp:revision>12</cp:revision>
  <dcterms:created xsi:type="dcterms:W3CDTF">2019-01-03T14:44:09Z</dcterms:created>
  <dcterms:modified xsi:type="dcterms:W3CDTF">2019-03-28T15:21:39Z</dcterms:modified>
</cp:coreProperties>
</file>